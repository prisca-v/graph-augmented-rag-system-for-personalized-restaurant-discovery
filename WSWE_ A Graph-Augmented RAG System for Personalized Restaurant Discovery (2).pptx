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Boldonse"/>
      <p:regular r:id="rId31"/>
    </p:embeddedFont>
    <p:embeddedFont>
      <p:font typeface="Rethin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oldonse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RethinkSans-bold.fntdata"/><Relationship Id="rId10" Type="http://schemas.openxmlformats.org/officeDocument/2006/relationships/slide" Target="slides/slide5.xml"/><Relationship Id="rId32" Type="http://schemas.openxmlformats.org/officeDocument/2006/relationships/font" Target="fonts/RethinkSans-regular.fntdata"/><Relationship Id="rId13" Type="http://schemas.openxmlformats.org/officeDocument/2006/relationships/slide" Target="slides/slide8.xml"/><Relationship Id="rId35" Type="http://schemas.openxmlformats.org/officeDocument/2006/relationships/font" Target="fonts/RethinkSans-boldItalic.fntdata"/><Relationship Id="rId12" Type="http://schemas.openxmlformats.org/officeDocument/2006/relationships/slide" Target="slides/slide7.xml"/><Relationship Id="rId34" Type="http://schemas.openxmlformats.org/officeDocument/2006/relationships/font" Target="fonts/Rethink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e0958df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e0958df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e0958dfa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e0958dfa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e10cdcdf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e10cdcdf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e0958dfa5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e0958dfa5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e10cdcdf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e10cdcdf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e0958dfa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e0958dfa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e0958dfa5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e0958dfa5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e0958dfa5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e0958dfa5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e0958dfa5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e0958dfa5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e0958dfa5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e0958dfa5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construct restaurant communities, we built a </a:t>
            </a:r>
            <a:r>
              <a:rPr b="1" lang="en">
                <a:solidFill>
                  <a:schemeClr val="dk1"/>
                </a:solidFill>
              </a:rPr>
              <a:t>bipartite network</a:t>
            </a:r>
            <a:r>
              <a:rPr lang="en">
                <a:solidFill>
                  <a:schemeClr val="dk1"/>
                </a:solidFill>
              </a:rPr>
              <a:t> connecting restaurants to their attributes. (Using Louvain Method)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attributes we used were primarily </a:t>
            </a:r>
            <a:r>
              <a:rPr b="1" lang="en">
                <a:solidFill>
                  <a:schemeClr val="dk1"/>
                </a:solidFill>
              </a:rPr>
              <a:t>cuisine tags and ambience tags</a:t>
            </a:r>
            <a:r>
              <a:rPr lang="en">
                <a:solidFill>
                  <a:schemeClr val="dk1"/>
                </a:solidFill>
              </a:rPr>
              <a:t>, since these capture the type of food and the dining experience.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removed a few variables such as </a:t>
            </a:r>
            <a:r>
              <a:rPr b="1" lang="en">
                <a:solidFill>
                  <a:schemeClr val="dk1"/>
                </a:solidFill>
              </a:rPr>
              <a:t>price and attire</a:t>
            </a:r>
            <a:r>
              <a:rPr lang="en">
                <a:solidFill>
                  <a:schemeClr val="dk1"/>
                </a:solidFill>
              </a:rPr>
              <a:t>, and also filtered out extremely common tags These tags appear across too many restaurants and would create overly dense connections in the network.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After filtering, we projected the bipartite network into a </a:t>
            </a:r>
            <a:r>
              <a:rPr b="1" lang="en">
                <a:solidFill>
                  <a:schemeClr val="dk1"/>
                </a:solidFill>
              </a:rPr>
              <a:t>restaurant-to-restaurant communities, </a:t>
            </a:r>
            <a:r>
              <a:rPr lang="en">
                <a:solidFill>
                  <a:schemeClr val="dk1"/>
                </a:solidFill>
              </a:rPr>
              <a:t>where two restaurants are connected if they share at least </a:t>
            </a:r>
            <a:r>
              <a:rPr b="1" lang="en">
                <a:solidFill>
                  <a:schemeClr val="dk1"/>
                </a:solidFill>
              </a:rPr>
              <a:t>two attributes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then applied </a:t>
            </a:r>
            <a:r>
              <a:rPr b="1" lang="en">
                <a:solidFill>
                  <a:schemeClr val="dk1"/>
                </a:solidFill>
              </a:rPr>
              <a:t>community detection</a:t>
            </a:r>
            <a:r>
              <a:rPr lang="en">
                <a:solidFill>
                  <a:schemeClr val="dk1"/>
                </a:solidFill>
              </a:rPr>
              <a:t> to identify clusters of restaurants that share similar characteristics.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process produced </a:t>
            </a:r>
            <a:r>
              <a:rPr b="1" lang="en">
                <a:solidFill>
                  <a:schemeClr val="dk1"/>
                </a:solidFill>
              </a:rPr>
              <a:t>11 distinct restaurant communities</a:t>
            </a:r>
            <a:r>
              <a:rPr lang="en">
                <a:solidFill>
                  <a:schemeClr val="dk1"/>
                </a:solidFill>
              </a:rPr>
              <a:t>, such as coffee and dessert cafés, gastropubs and bars, sushi restaurants, Italian and pizza spots, Mexican restaurants, and others.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58787c28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58787c28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we show an example of one detected cluster: the </a:t>
            </a:r>
            <a:r>
              <a:rPr b="1" lang="en">
                <a:solidFill>
                  <a:schemeClr val="dk1"/>
                </a:solidFill>
              </a:rPr>
              <a:t>Japanese and Korean restaurant community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Each node represents a restaurant, and edges connect restaurants that share multiple attributes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 we only display the </a:t>
            </a:r>
            <a:r>
              <a:rPr b="1" lang="en">
                <a:solidFill>
                  <a:schemeClr val="dk1"/>
                </a:solidFill>
              </a:rPr>
              <a:t>strongest connections</a:t>
            </a:r>
            <a:r>
              <a:rPr lang="en">
                <a:solidFill>
                  <a:schemeClr val="dk1"/>
                </a:solidFill>
              </a:rPr>
              <a:t>, meaning restaurants that share at least three attributes. The orange nodes represent the </a:t>
            </a:r>
            <a:r>
              <a:rPr b="1" lang="en">
                <a:solidFill>
                  <a:schemeClr val="dk1"/>
                </a:solidFill>
              </a:rPr>
              <a:t>most central restaurants</a:t>
            </a:r>
            <a:r>
              <a:rPr lang="en">
                <a:solidFill>
                  <a:schemeClr val="dk1"/>
                </a:solidFill>
              </a:rPr>
              <a:t> in the community. These restaurants share many attributes with others and effectively form the </a:t>
            </a:r>
            <a:r>
              <a:rPr b="1" lang="en">
                <a:solidFill>
                  <a:schemeClr val="dk1"/>
                </a:solidFill>
              </a:rPr>
              <a:t>core of the cluster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Overall, the cluster demonstrates how restaurants naturally group together based on shared attributes, revealing underlying structure in the restaurant ecosystem.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These communities become a foundational part of our recommendation system, since they allow us to identify restaurants that are structurally similar in the network.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e0958dfa5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e0958dfa5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583e7f3e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583e7f3e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58787c28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58787c28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Langgraph Orchestration identifies what the User wants from their natural </a:t>
            </a:r>
            <a:r>
              <a:rPr lang="en"/>
              <a:t>language</a:t>
            </a:r>
            <a:r>
              <a:rPr lang="en"/>
              <a:t> conversation in the front end and passes it on to the rest of the system. So let say the user wants a “fun and classy sushi </a:t>
            </a:r>
            <a:r>
              <a:rPr lang="en"/>
              <a:t>restaurant</a:t>
            </a:r>
            <a:r>
              <a:rPr lang="en"/>
              <a:t> for our anniversary”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use an LLM parser to </a:t>
            </a:r>
            <a:r>
              <a:rPr lang="en"/>
              <a:t>identify</a:t>
            </a:r>
            <a:r>
              <a:rPr lang="en"/>
              <a:t> what information we want to extract from </a:t>
            </a:r>
            <a:r>
              <a:rPr lang="en"/>
              <a:t>fields</a:t>
            </a:r>
            <a:r>
              <a:rPr lang="en"/>
              <a:t>. Using an LLM allows more </a:t>
            </a:r>
            <a:r>
              <a:rPr lang="en"/>
              <a:t>flexibility and intelligence</a:t>
            </a:r>
            <a:r>
              <a:rPr lang="en"/>
              <a:t> so the user can be more casual and we’d still </a:t>
            </a:r>
            <a:r>
              <a:rPr lang="en"/>
              <a:t>extract</a:t>
            </a:r>
            <a:r>
              <a:rPr lang="en"/>
              <a:t> meaningful information and so things like anniversary might already determine this is a party_size = 2 without it fitting into a rigid string search.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this results is </a:t>
            </a:r>
            <a:r>
              <a:rPr lang="en"/>
              <a:t>validated in</a:t>
            </a:r>
            <a:r>
              <a:rPr lang="en"/>
              <a:t> the LangGraph State Routing section. Before doing this entire part i should mention, we </a:t>
            </a:r>
            <a:r>
              <a:rPr lang="en"/>
              <a:t>created an agreement with our recommendation side for what fields would be extracted. As you can see, cuisine, vibe, party_size, group_type, price_range and a few more like “avoid” are in this with price and cuisine being required. The state routing</a:t>
            </a:r>
            <a:r>
              <a:rPr lang="en"/>
              <a:t> ensures we have the two required </a:t>
            </a:r>
            <a:r>
              <a:rPr lang="en"/>
              <a:t>fields</a:t>
            </a:r>
            <a:r>
              <a:rPr lang="en"/>
              <a:t> required for our model to and reprompts creating a Human In the Loop interaction when it does not. (i.e. what price range)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we send all of this information to the rest of our system in a predetermined format. Currently locally but can use APIs.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e0958dfa5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e0958dfa5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e0958dfa5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e0958dfa5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e0958dfa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e0958dfa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583e7f3e8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583e7f3e8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e0958dfa5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e0958dfa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58787c28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c58787c28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hyperlink" Target="http://drive.google.com/file/d/1X_a3wt7d5emmELjWV4cHqa8OdgM_HK6o/view" TargetMode="External"/><Relationship Id="rId6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31800" y="1022399"/>
            <a:ext cx="8686800" cy="3879885"/>
          </a:xfrm>
          <a:custGeom>
            <a:rect b="b" l="l" r="r" t="t"/>
            <a:pathLst>
              <a:path extrusionOk="0" h="6466475" w="12192000">
                <a:moveTo>
                  <a:pt x="11760767" y="0"/>
                </a:moveTo>
                <a:lnTo>
                  <a:pt x="431233" y="0"/>
                </a:lnTo>
                <a:cubicBezTo>
                  <a:pt x="193051" y="0"/>
                  <a:pt x="0" y="193051"/>
                  <a:pt x="0" y="431233"/>
                </a:cubicBezTo>
                <a:lnTo>
                  <a:pt x="0" y="6035242"/>
                </a:lnTo>
                <a:cubicBezTo>
                  <a:pt x="0" y="6273424"/>
                  <a:pt x="193051" y="6466475"/>
                  <a:pt x="431233" y="6466475"/>
                </a:cubicBezTo>
                <a:lnTo>
                  <a:pt x="11760767" y="6466475"/>
                </a:lnTo>
                <a:cubicBezTo>
                  <a:pt x="11998949" y="6466475"/>
                  <a:pt x="12192000" y="6273424"/>
                  <a:pt x="12192000" y="6035242"/>
                </a:cubicBezTo>
                <a:lnTo>
                  <a:pt x="12192000" y="431233"/>
                </a:lnTo>
                <a:cubicBezTo>
                  <a:pt x="12192000" y="193051"/>
                  <a:pt x="11998949" y="0"/>
                  <a:pt x="11760767" y="0"/>
                </a:cubicBezTo>
                <a:close/>
                <a:moveTo>
                  <a:pt x="11298077" y="5185575"/>
                </a:moveTo>
                <a:lnTo>
                  <a:pt x="8523151" y="5185575"/>
                </a:lnTo>
                <a:cubicBezTo>
                  <a:pt x="8284969" y="5185575"/>
                  <a:pt x="8091919" y="5378626"/>
                  <a:pt x="8091919" y="5616807"/>
                </a:cubicBezTo>
                <a:lnTo>
                  <a:pt x="8091919" y="5616807"/>
                </a:lnTo>
                <a:cubicBezTo>
                  <a:pt x="8091919" y="5854989"/>
                  <a:pt x="7898867" y="6048040"/>
                  <a:pt x="7660685" y="6048040"/>
                </a:cubicBezTo>
                <a:lnTo>
                  <a:pt x="819693" y="6048040"/>
                </a:lnTo>
                <a:cubicBezTo>
                  <a:pt x="581511" y="6048040"/>
                  <a:pt x="388460" y="5854989"/>
                  <a:pt x="388460" y="5616807"/>
                </a:cubicBezTo>
                <a:lnTo>
                  <a:pt x="388460" y="2382829"/>
                </a:lnTo>
                <a:cubicBezTo>
                  <a:pt x="388460" y="2144647"/>
                  <a:pt x="581511" y="1951596"/>
                  <a:pt x="819693" y="1951596"/>
                </a:cubicBezTo>
                <a:lnTo>
                  <a:pt x="10323930" y="1951596"/>
                </a:lnTo>
                <a:cubicBezTo>
                  <a:pt x="10562112" y="1951596"/>
                  <a:pt x="10755162" y="1758545"/>
                  <a:pt x="10755162" y="1520363"/>
                </a:cubicBezTo>
                <a:lnTo>
                  <a:pt x="10755162" y="887120"/>
                </a:lnTo>
                <a:cubicBezTo>
                  <a:pt x="10755162" y="648938"/>
                  <a:pt x="10948214" y="455887"/>
                  <a:pt x="11186395" y="455887"/>
                </a:cubicBezTo>
                <a:lnTo>
                  <a:pt x="11297202" y="455887"/>
                </a:lnTo>
                <a:cubicBezTo>
                  <a:pt x="11560913" y="455887"/>
                  <a:pt x="11774711" y="669684"/>
                  <a:pt x="11774711" y="933395"/>
                </a:cubicBezTo>
                <a:lnTo>
                  <a:pt x="11774711" y="4709009"/>
                </a:lnTo>
                <a:cubicBezTo>
                  <a:pt x="11774711" y="4972248"/>
                  <a:pt x="11561317" y="5185642"/>
                  <a:pt x="11298077" y="518564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31900" y="424800"/>
            <a:ext cx="8686800" cy="1778400"/>
          </a:xfrm>
          <a:prstGeom prst="roundRect">
            <a:avLst>
              <a:gd fmla="val 2096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610200" y="739800"/>
            <a:ext cx="7662600" cy="14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50">
                <a:latin typeface="Boldonse"/>
                <a:ea typeface="Boldonse"/>
                <a:cs typeface="Boldonse"/>
                <a:sym typeface="Boldonse"/>
              </a:rPr>
              <a:t>WSWE: A Graph-Augmented RAG System for Personalized Restaurant Discovery</a:t>
            </a:r>
            <a:endParaRPr sz="2650"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6085700" y="4247725"/>
            <a:ext cx="28329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00">
                <a:latin typeface="Rethink Sans"/>
                <a:ea typeface="Rethink Sans"/>
                <a:cs typeface="Rethink Sans"/>
                <a:sym typeface="Rethink Sans"/>
              </a:rPr>
              <a:t>By: Prisca Varner, </a:t>
            </a:r>
            <a:r>
              <a:rPr lang="en" sz="800">
                <a:latin typeface="Rethink Sans"/>
                <a:ea typeface="Rethink Sans"/>
                <a:cs typeface="Rethink Sans"/>
                <a:sym typeface="Rethink Sans"/>
              </a:rPr>
              <a:t>Grace</a:t>
            </a:r>
            <a:r>
              <a:rPr lang="en" sz="800">
                <a:latin typeface="Rethink Sans"/>
                <a:ea typeface="Rethink Sans"/>
                <a:cs typeface="Rethink Sans"/>
                <a:sym typeface="Rethink Sans"/>
              </a:rPr>
              <a:t> Lin, Bagya Puppala, Janani Vakkanti, Somil Gupta, Mauro Cardona Reyes </a:t>
            </a:r>
            <a:endParaRPr sz="800"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228600" y="228600"/>
            <a:ext cx="8687086" cy="4671326"/>
          </a:xfrm>
          <a:custGeom>
            <a:rect b="b" l="l" r="r" t="t"/>
            <a:pathLst>
              <a:path extrusionOk="0" h="6602581" w="12192402">
                <a:moveTo>
                  <a:pt x="12068002" y="124400"/>
                </a:moveTo>
                <a:cubicBezTo>
                  <a:pt x="11988308" y="44706"/>
                  <a:pt x="11880263" y="0"/>
                  <a:pt x="11767593" y="0"/>
                </a:cubicBezTo>
                <a:lnTo>
                  <a:pt x="424810" y="0"/>
                </a:lnTo>
                <a:cubicBezTo>
                  <a:pt x="190219" y="0"/>
                  <a:pt x="0" y="190219"/>
                  <a:pt x="0" y="424810"/>
                </a:cubicBezTo>
                <a:lnTo>
                  <a:pt x="0" y="6177772"/>
                </a:lnTo>
                <a:cubicBezTo>
                  <a:pt x="0" y="6412362"/>
                  <a:pt x="190219" y="6602582"/>
                  <a:pt x="424810" y="6602582"/>
                </a:cubicBezTo>
                <a:lnTo>
                  <a:pt x="11767593" y="6602582"/>
                </a:lnTo>
                <a:cubicBezTo>
                  <a:pt x="12002183" y="6602582"/>
                  <a:pt x="12192403" y="6412362"/>
                  <a:pt x="12192403" y="6177772"/>
                </a:cubicBezTo>
                <a:lnTo>
                  <a:pt x="12192403" y="424810"/>
                </a:lnTo>
                <a:cubicBezTo>
                  <a:pt x="12192403" y="312139"/>
                  <a:pt x="12147629" y="204094"/>
                  <a:pt x="12068002" y="124400"/>
                </a:cubicBezTo>
                <a:close/>
                <a:moveTo>
                  <a:pt x="4235095" y="3846546"/>
                </a:moveTo>
                <a:lnTo>
                  <a:pt x="3142037" y="3846546"/>
                </a:lnTo>
                <a:cubicBezTo>
                  <a:pt x="2967569" y="3846546"/>
                  <a:pt x="2826078" y="3988037"/>
                  <a:pt x="2826078" y="4162506"/>
                </a:cubicBezTo>
                <a:lnTo>
                  <a:pt x="2826078" y="4162506"/>
                </a:lnTo>
                <a:cubicBezTo>
                  <a:pt x="2826078" y="4336974"/>
                  <a:pt x="2684586" y="4478466"/>
                  <a:pt x="2510118" y="4478466"/>
                </a:cubicBezTo>
                <a:lnTo>
                  <a:pt x="702498" y="4478466"/>
                </a:lnTo>
                <a:cubicBezTo>
                  <a:pt x="528030" y="4478466"/>
                  <a:pt x="386538" y="4336974"/>
                  <a:pt x="386538" y="4162506"/>
                </a:cubicBezTo>
                <a:lnTo>
                  <a:pt x="386538" y="702230"/>
                </a:lnTo>
                <a:cubicBezTo>
                  <a:pt x="386538" y="527761"/>
                  <a:pt x="528030" y="386270"/>
                  <a:pt x="702498" y="386270"/>
                </a:cubicBezTo>
                <a:lnTo>
                  <a:pt x="4235095" y="386270"/>
                </a:lnTo>
                <a:cubicBezTo>
                  <a:pt x="4409563" y="386270"/>
                  <a:pt x="4551055" y="527761"/>
                  <a:pt x="4551055" y="702230"/>
                </a:cubicBezTo>
                <a:lnTo>
                  <a:pt x="4551055" y="3530586"/>
                </a:lnTo>
                <a:cubicBezTo>
                  <a:pt x="4551055" y="3705055"/>
                  <a:pt x="4409563" y="3846546"/>
                  <a:pt x="4235095" y="38465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>
            <p:ph idx="4294967295" type="subTitle"/>
          </p:nvPr>
        </p:nvSpPr>
        <p:spPr>
          <a:xfrm>
            <a:off x="5267100" y="2377572"/>
            <a:ext cx="34233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Boldonse"/>
                <a:ea typeface="Boldonse"/>
                <a:cs typeface="Boldonse"/>
                <a:sym typeface="Boldonse"/>
              </a:rPr>
              <a:t>Network Analysis</a:t>
            </a:r>
            <a:endParaRPr sz="1600">
              <a:solidFill>
                <a:schemeClr val="dk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66" name="Google Shape;66;p14"/>
          <p:cNvSpPr txBox="1"/>
          <p:nvPr>
            <p:ph idx="4294967295" type="subTitle"/>
          </p:nvPr>
        </p:nvSpPr>
        <p:spPr>
          <a:xfrm>
            <a:off x="5267100" y="3187843"/>
            <a:ext cx="34182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Boldonse"/>
                <a:ea typeface="Boldonse"/>
                <a:cs typeface="Boldonse"/>
                <a:sym typeface="Boldonse"/>
              </a:rPr>
              <a:t>Model Architecture</a:t>
            </a:r>
            <a:endParaRPr sz="1600">
              <a:solidFill>
                <a:schemeClr val="dk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67" name="Google Shape;67;p14"/>
          <p:cNvSpPr txBox="1"/>
          <p:nvPr>
            <p:ph idx="4294967295" type="title"/>
          </p:nvPr>
        </p:nvSpPr>
        <p:spPr>
          <a:xfrm>
            <a:off x="4325100" y="3187411"/>
            <a:ext cx="8658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04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68" name="Google Shape;68;p14"/>
          <p:cNvSpPr txBox="1"/>
          <p:nvPr>
            <p:ph idx="4294967295" type="title"/>
          </p:nvPr>
        </p:nvSpPr>
        <p:spPr>
          <a:xfrm>
            <a:off x="4325100" y="2377351"/>
            <a:ext cx="8658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03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69" name="Google Shape;69;p14"/>
          <p:cNvSpPr txBox="1"/>
          <p:nvPr>
            <p:ph idx="4294967295" type="subTitle"/>
          </p:nvPr>
        </p:nvSpPr>
        <p:spPr>
          <a:xfrm>
            <a:off x="5267100" y="897700"/>
            <a:ext cx="34233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Boldonse"/>
                <a:ea typeface="Boldonse"/>
                <a:cs typeface="Boldonse"/>
                <a:sym typeface="Boldonse"/>
              </a:rPr>
              <a:t>Project Relevance</a:t>
            </a:r>
            <a:endParaRPr sz="1600">
              <a:solidFill>
                <a:schemeClr val="dk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70" name="Google Shape;70;p14"/>
          <p:cNvSpPr txBox="1"/>
          <p:nvPr>
            <p:ph idx="4294967295" type="title"/>
          </p:nvPr>
        </p:nvSpPr>
        <p:spPr>
          <a:xfrm>
            <a:off x="4325100" y="897692"/>
            <a:ext cx="8658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01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457200" y="3655425"/>
            <a:ext cx="34989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TABLE OF CONTENTS</a:t>
            </a:r>
            <a:endParaRPr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72" name="Google Shape;72;p14"/>
          <p:cNvSpPr txBox="1"/>
          <p:nvPr>
            <p:ph idx="4294967295" type="subTitle"/>
          </p:nvPr>
        </p:nvSpPr>
        <p:spPr>
          <a:xfrm>
            <a:off x="5267100" y="3998568"/>
            <a:ext cx="34182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Boldonse"/>
                <a:ea typeface="Boldonse"/>
                <a:cs typeface="Boldonse"/>
                <a:sym typeface="Boldonse"/>
              </a:rPr>
              <a:t>Demo</a:t>
            </a:r>
            <a:endParaRPr sz="1600">
              <a:solidFill>
                <a:schemeClr val="dk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73" name="Google Shape;73;p14"/>
          <p:cNvSpPr txBox="1"/>
          <p:nvPr>
            <p:ph idx="4294967295" type="title"/>
          </p:nvPr>
        </p:nvSpPr>
        <p:spPr>
          <a:xfrm>
            <a:off x="4325100" y="3998136"/>
            <a:ext cx="8658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05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74" name="Google Shape;74;p14"/>
          <p:cNvSpPr txBox="1"/>
          <p:nvPr>
            <p:ph idx="4294967295" type="subTitle"/>
          </p:nvPr>
        </p:nvSpPr>
        <p:spPr>
          <a:xfrm>
            <a:off x="5267100" y="1626684"/>
            <a:ext cx="3423300" cy="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Boldonse"/>
                <a:ea typeface="Boldonse"/>
                <a:cs typeface="Boldonse"/>
                <a:sym typeface="Boldonse"/>
              </a:rPr>
              <a:t>The Dataset</a:t>
            </a:r>
            <a:endParaRPr sz="1600">
              <a:solidFill>
                <a:schemeClr val="dk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75" name="Google Shape;75;p14"/>
          <p:cNvSpPr txBox="1"/>
          <p:nvPr>
            <p:ph idx="4294967295" type="title"/>
          </p:nvPr>
        </p:nvSpPr>
        <p:spPr>
          <a:xfrm>
            <a:off x="4325100" y="1626464"/>
            <a:ext cx="8658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02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228600" y="228600"/>
            <a:ext cx="8689897" cy="4670639"/>
          </a:xfrm>
          <a:custGeom>
            <a:rect b="b" l="l" r="r" t="t"/>
            <a:pathLst>
              <a:path extrusionOk="0" h="4694110" w="8668226">
                <a:moveTo>
                  <a:pt x="8579739" y="88487"/>
                </a:moveTo>
                <a:cubicBezTo>
                  <a:pt x="8523065" y="31814"/>
                  <a:pt x="8446294" y="0"/>
                  <a:pt x="8366189" y="0"/>
                </a:cubicBezTo>
                <a:lnTo>
                  <a:pt x="302038" y="0"/>
                </a:lnTo>
                <a:cubicBezTo>
                  <a:pt x="135255" y="0"/>
                  <a:pt x="0" y="135255"/>
                  <a:pt x="0" y="302038"/>
                </a:cubicBezTo>
                <a:lnTo>
                  <a:pt x="0" y="4392073"/>
                </a:lnTo>
                <a:cubicBezTo>
                  <a:pt x="0" y="4558856"/>
                  <a:pt x="135255" y="4694111"/>
                  <a:pt x="302038" y="4694111"/>
                </a:cubicBezTo>
                <a:lnTo>
                  <a:pt x="8366189" y="4694111"/>
                </a:lnTo>
                <a:cubicBezTo>
                  <a:pt x="8532971" y="4694111"/>
                  <a:pt x="8668226" y="4558856"/>
                  <a:pt x="8668226" y="4392073"/>
                </a:cubicBezTo>
                <a:lnTo>
                  <a:pt x="8668226" y="302038"/>
                </a:lnTo>
                <a:cubicBezTo>
                  <a:pt x="8668226" y="221933"/>
                  <a:pt x="8636413" y="145161"/>
                  <a:pt x="8579739" y="88487"/>
                </a:cubicBezTo>
                <a:close/>
                <a:moveTo>
                  <a:pt x="8378571" y="4098798"/>
                </a:moveTo>
                <a:cubicBezTo>
                  <a:pt x="8378571" y="4267581"/>
                  <a:pt x="8241697" y="4404456"/>
                  <a:pt x="8072914" y="4404456"/>
                </a:cubicBezTo>
                <a:lnTo>
                  <a:pt x="4396264" y="4404456"/>
                </a:lnTo>
                <a:cubicBezTo>
                  <a:pt x="4227481" y="4404456"/>
                  <a:pt x="4090607" y="4267581"/>
                  <a:pt x="4090607" y="4098798"/>
                </a:cubicBezTo>
                <a:lnTo>
                  <a:pt x="4090607" y="3912870"/>
                </a:lnTo>
                <a:cubicBezTo>
                  <a:pt x="4090607" y="3744087"/>
                  <a:pt x="3953732" y="3607213"/>
                  <a:pt x="3784949" y="3607213"/>
                </a:cubicBezTo>
                <a:lnTo>
                  <a:pt x="595313" y="3607213"/>
                </a:lnTo>
                <a:cubicBezTo>
                  <a:pt x="426530" y="3607213"/>
                  <a:pt x="289655" y="3470339"/>
                  <a:pt x="289655" y="3301556"/>
                </a:cubicBezTo>
                <a:lnTo>
                  <a:pt x="289655" y="2469356"/>
                </a:lnTo>
                <a:cubicBezTo>
                  <a:pt x="289655" y="2300573"/>
                  <a:pt x="426530" y="2163699"/>
                  <a:pt x="595313" y="2163699"/>
                </a:cubicBezTo>
                <a:lnTo>
                  <a:pt x="4683919" y="2163699"/>
                </a:lnTo>
                <a:cubicBezTo>
                  <a:pt x="4852702" y="2163699"/>
                  <a:pt x="4989577" y="2026825"/>
                  <a:pt x="4989577" y="1858042"/>
                </a:cubicBezTo>
                <a:lnTo>
                  <a:pt x="4989577" y="584549"/>
                </a:lnTo>
                <a:cubicBezTo>
                  <a:pt x="4989577" y="415766"/>
                  <a:pt x="5126451" y="278892"/>
                  <a:pt x="5295233" y="278892"/>
                </a:cubicBezTo>
                <a:lnTo>
                  <a:pt x="6303074" y="278892"/>
                </a:lnTo>
                <a:cubicBezTo>
                  <a:pt x="6471857" y="278892"/>
                  <a:pt x="6608731" y="415766"/>
                  <a:pt x="6608731" y="584549"/>
                </a:cubicBezTo>
                <a:lnTo>
                  <a:pt x="6608731" y="1857851"/>
                </a:lnTo>
                <a:cubicBezTo>
                  <a:pt x="6608731" y="2026634"/>
                  <a:pt x="6745605" y="2163509"/>
                  <a:pt x="6914388" y="2163509"/>
                </a:cubicBezTo>
                <a:lnTo>
                  <a:pt x="8072724" y="2163509"/>
                </a:lnTo>
                <a:cubicBezTo>
                  <a:pt x="8241506" y="2163509"/>
                  <a:pt x="8378381" y="2300383"/>
                  <a:pt x="8378381" y="2469166"/>
                </a:cubicBezTo>
                <a:lnTo>
                  <a:pt x="8378381" y="40987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457200" y="521225"/>
            <a:ext cx="44427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919"/>
                </a:solidFill>
                <a:latin typeface="Boldonse"/>
                <a:ea typeface="Boldonse"/>
                <a:cs typeface="Boldonse"/>
                <a:sym typeface="Boldonse"/>
              </a:rPr>
              <a:t>Project  Relevance</a:t>
            </a:r>
            <a:endParaRPr sz="4000">
              <a:solidFill>
                <a:srgbClr val="191919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580800" y="445025"/>
            <a:ext cx="21096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01</a:t>
            </a:r>
            <a:endParaRPr sz="60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57200" y="4064250"/>
            <a:ext cx="3531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670500" y="1213140"/>
            <a:ext cx="7803000" cy="1841700"/>
          </a:xfrm>
          <a:prstGeom prst="roundRect">
            <a:avLst>
              <a:gd fmla="val 1206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type="title"/>
          </p:nvPr>
        </p:nvSpPr>
        <p:spPr>
          <a:xfrm>
            <a:off x="806150" y="1322825"/>
            <a:ext cx="25185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OpenTable</a:t>
            </a:r>
            <a:endParaRPr sz="16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93" name="Google Shape;93;p16"/>
          <p:cNvSpPr txBox="1"/>
          <p:nvPr>
            <p:ph idx="4294967295" type="subTitle"/>
          </p:nvPr>
        </p:nvSpPr>
        <p:spPr>
          <a:xfrm>
            <a:off x="724225" y="1944029"/>
            <a:ext cx="2334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Rethink Sans"/>
                <a:ea typeface="Rethink Sans"/>
                <a:cs typeface="Rethink Sans"/>
                <a:sym typeface="Rethink Sans"/>
              </a:rPr>
              <a:t>You can book, but you already have to know where you want to go.</a:t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94" name="Google Shape;94;p16"/>
          <p:cNvSpPr txBox="1"/>
          <p:nvPr>
            <p:ph idx="4294967295" type="title"/>
          </p:nvPr>
        </p:nvSpPr>
        <p:spPr>
          <a:xfrm>
            <a:off x="3901524" y="1322825"/>
            <a:ext cx="9669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Yelp</a:t>
            </a:r>
            <a:endParaRPr sz="16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95" name="Google Shape;95;p16"/>
          <p:cNvSpPr txBox="1"/>
          <p:nvPr>
            <p:ph idx="4294967295" type="subTitle"/>
          </p:nvPr>
        </p:nvSpPr>
        <p:spPr>
          <a:xfrm>
            <a:off x="3192093" y="1944025"/>
            <a:ext cx="2334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Rethink Sans"/>
                <a:ea typeface="Rethink Sans"/>
                <a:cs typeface="Rethink Sans"/>
                <a:sym typeface="Rethink Sans"/>
              </a:rPr>
              <a:t>You can search, but only if you know the right keywords</a:t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96" name="Google Shape;96;p16"/>
          <p:cNvSpPr txBox="1"/>
          <p:nvPr>
            <p:ph idx="4294967295" type="title"/>
          </p:nvPr>
        </p:nvSpPr>
        <p:spPr>
          <a:xfrm>
            <a:off x="5924400" y="1322825"/>
            <a:ext cx="26175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6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Google Maps</a:t>
            </a:r>
            <a:endParaRPr sz="16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97" name="Google Shape;97;p16"/>
          <p:cNvSpPr txBox="1"/>
          <p:nvPr>
            <p:ph idx="4294967295" type="subTitle"/>
          </p:nvPr>
        </p:nvSpPr>
        <p:spPr>
          <a:xfrm>
            <a:off x="5924402" y="1944016"/>
            <a:ext cx="2334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Rethink Sans"/>
                <a:ea typeface="Rethink Sans"/>
                <a:cs typeface="Rethink Sans"/>
                <a:sym typeface="Rethink Sans"/>
              </a:rPr>
              <a:t>Shows you everything nearby; understands nothing about context</a:t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98" name="Google Shape;98;p16"/>
          <p:cNvSpPr txBox="1"/>
          <p:nvPr>
            <p:ph idx="4294967295" type="title"/>
          </p:nvPr>
        </p:nvSpPr>
        <p:spPr>
          <a:xfrm>
            <a:off x="457200" y="521225"/>
            <a:ext cx="75060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The Problem</a:t>
            </a:r>
            <a:r>
              <a:rPr lang="en">
                <a:latin typeface="Boldonse"/>
                <a:ea typeface="Boldonse"/>
                <a:cs typeface="Boldonse"/>
                <a:sym typeface="Boldonse"/>
              </a:rPr>
              <a:t> </a:t>
            </a:r>
            <a:endParaRPr sz="2520"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99" name="Google Shape;99;p16"/>
          <p:cNvSpPr txBox="1"/>
          <p:nvPr>
            <p:ph idx="4294967295" type="title"/>
          </p:nvPr>
        </p:nvSpPr>
        <p:spPr>
          <a:xfrm>
            <a:off x="3943650" y="3183438"/>
            <a:ext cx="12603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6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The Gap</a:t>
            </a:r>
            <a:endParaRPr sz="16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00" name="Google Shape;100;p16"/>
          <p:cNvSpPr txBox="1"/>
          <p:nvPr>
            <p:ph idx="4294967295" type="subTitle"/>
          </p:nvPr>
        </p:nvSpPr>
        <p:spPr>
          <a:xfrm>
            <a:off x="1032150" y="3583539"/>
            <a:ext cx="70833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Rethink Sans"/>
                <a:ea typeface="Rethink Sans"/>
                <a:cs typeface="Rethink Sans"/>
                <a:sym typeface="Rethink Sans"/>
              </a:rPr>
              <a:t>None of them can answer: “find me something calm and romantic for a first date that isn’t too expensive” in a single conversational turn.</a:t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400"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 txBox="1"/>
          <p:nvPr>
            <p:ph idx="4294967295" type="title"/>
          </p:nvPr>
        </p:nvSpPr>
        <p:spPr>
          <a:xfrm>
            <a:off x="457200" y="521225"/>
            <a:ext cx="7506000" cy="6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The </a:t>
            </a:r>
            <a:r>
              <a:rPr lang="en">
                <a:latin typeface="Boldonse"/>
                <a:ea typeface="Boldonse"/>
                <a:cs typeface="Boldonse"/>
                <a:sym typeface="Boldonse"/>
              </a:rPr>
              <a:t>Purpose of WSWE </a:t>
            </a:r>
            <a:r>
              <a:rPr lang="en" sz="1200">
                <a:latin typeface="Boldonse"/>
                <a:ea typeface="Boldonse"/>
                <a:cs typeface="Boldonse"/>
                <a:sym typeface="Boldonse"/>
              </a:rPr>
              <a:t>(Where Should We Eat?)</a:t>
            </a:r>
            <a:endParaRPr sz="2520"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676550" y="1289200"/>
            <a:ext cx="2366100" cy="1407900"/>
          </a:xfrm>
          <a:prstGeom prst="roundRect">
            <a:avLst>
              <a:gd fmla="val 12868" name="adj"/>
            </a:avLst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>
            <p:ph idx="4294967295" type="title"/>
          </p:nvPr>
        </p:nvSpPr>
        <p:spPr>
          <a:xfrm>
            <a:off x="947263" y="1358450"/>
            <a:ext cx="18027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Natural Language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10" name="Google Shape;110;p17"/>
          <p:cNvSpPr txBox="1"/>
          <p:nvPr>
            <p:ph idx="4294967295" type="subTitle"/>
          </p:nvPr>
        </p:nvSpPr>
        <p:spPr>
          <a:xfrm>
            <a:off x="916813" y="1725909"/>
            <a:ext cx="1863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250">
                <a:latin typeface="Rethink Sans"/>
                <a:ea typeface="Rethink Sans"/>
                <a:cs typeface="Rethink Sans"/>
                <a:sym typeface="Rethink Sans"/>
              </a:rPr>
              <a:t>Describe what you want, no rigid filters needed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438625" y="1289200"/>
            <a:ext cx="2366100" cy="1407900"/>
          </a:xfrm>
          <a:prstGeom prst="roundRect">
            <a:avLst>
              <a:gd fmla="val 12868" name="adj"/>
            </a:avLst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idx="4294967295" type="title"/>
          </p:nvPr>
        </p:nvSpPr>
        <p:spPr>
          <a:xfrm>
            <a:off x="3438625" y="1360725"/>
            <a:ext cx="23661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Community Detection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13" name="Google Shape;113;p17"/>
          <p:cNvSpPr txBox="1"/>
          <p:nvPr>
            <p:ph idx="4294967295" type="subTitle"/>
          </p:nvPr>
        </p:nvSpPr>
        <p:spPr>
          <a:xfrm>
            <a:off x="3689875" y="1673850"/>
            <a:ext cx="1863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250">
                <a:latin typeface="Rethink Sans"/>
                <a:ea typeface="Rethink Sans"/>
                <a:cs typeface="Rethink Sans"/>
                <a:sym typeface="Rethink Sans"/>
              </a:rPr>
              <a:t>Graph clusters restaurants by shared cuisine and vibe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96025" y="3112025"/>
            <a:ext cx="2366100" cy="1407900"/>
          </a:xfrm>
          <a:prstGeom prst="roundRect">
            <a:avLst>
              <a:gd fmla="val 12868" name="adj"/>
            </a:avLst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>
            <p:ph idx="4294967295" type="subTitle"/>
          </p:nvPr>
        </p:nvSpPr>
        <p:spPr>
          <a:xfrm>
            <a:off x="947263" y="3549300"/>
            <a:ext cx="1863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250">
                <a:latin typeface="Rethink Sans"/>
                <a:ea typeface="Rethink Sans"/>
                <a:cs typeface="Rethink Sans"/>
                <a:sym typeface="Rethink Sans"/>
              </a:rPr>
              <a:t>Asks one targeted question when intent is incomplete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453838" y="3094675"/>
            <a:ext cx="2366100" cy="1407900"/>
          </a:xfrm>
          <a:prstGeom prst="roundRect">
            <a:avLst>
              <a:gd fmla="val 12868" name="adj"/>
            </a:avLst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 txBox="1"/>
          <p:nvPr>
            <p:ph idx="4294967295" type="subTitle"/>
          </p:nvPr>
        </p:nvSpPr>
        <p:spPr>
          <a:xfrm>
            <a:off x="3689875" y="3549300"/>
            <a:ext cx="20427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250">
                <a:latin typeface="Rethink Sans"/>
                <a:ea typeface="Rethink Sans"/>
                <a:cs typeface="Rethink Sans"/>
                <a:sym typeface="Rethink Sans"/>
              </a:rPr>
              <a:t>82k nodes, 103k edges connecting restaurants, users, reviews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112450" y="3039300"/>
            <a:ext cx="2366100" cy="1407900"/>
          </a:xfrm>
          <a:prstGeom prst="roundRect">
            <a:avLst>
              <a:gd fmla="val 12868" name="adj"/>
            </a:avLst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 txBox="1"/>
          <p:nvPr>
            <p:ph idx="4294967295" type="subTitle"/>
          </p:nvPr>
        </p:nvSpPr>
        <p:spPr>
          <a:xfrm>
            <a:off x="6211675" y="3521975"/>
            <a:ext cx="22905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250">
                <a:latin typeface="Rethink Sans"/>
                <a:ea typeface="Rethink Sans"/>
                <a:cs typeface="Rethink Sans"/>
                <a:sym typeface="Rethink Sans"/>
              </a:rPr>
              <a:t>Any city, any domain - plug in a new dataset and go!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158500" y="1289200"/>
            <a:ext cx="2366100" cy="1407900"/>
          </a:xfrm>
          <a:prstGeom prst="roundRect">
            <a:avLst>
              <a:gd fmla="val 12868" name="adj"/>
            </a:avLst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>
            <p:ph idx="4294967295" type="subTitle"/>
          </p:nvPr>
        </p:nvSpPr>
        <p:spPr>
          <a:xfrm>
            <a:off x="6409750" y="1673850"/>
            <a:ext cx="1863600" cy="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250">
                <a:latin typeface="Rethink Sans"/>
                <a:ea typeface="Rethink Sans"/>
                <a:cs typeface="Rethink Sans"/>
                <a:sym typeface="Rethink Sans"/>
              </a:rPr>
              <a:t>Retrieves what customers actually experienced not just tags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22" name="Google Shape;122;p17"/>
          <p:cNvSpPr txBox="1"/>
          <p:nvPr>
            <p:ph idx="4294967295" type="title"/>
          </p:nvPr>
        </p:nvSpPr>
        <p:spPr>
          <a:xfrm>
            <a:off x="6398426" y="1358450"/>
            <a:ext cx="19926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Review-driven RAG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23" name="Google Shape;123;p17"/>
          <p:cNvSpPr txBox="1"/>
          <p:nvPr>
            <p:ph idx="4294967295" type="title"/>
          </p:nvPr>
        </p:nvSpPr>
        <p:spPr>
          <a:xfrm>
            <a:off x="947275" y="3198775"/>
            <a:ext cx="18027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Smart follow-up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24" name="Google Shape;124;p17"/>
          <p:cNvSpPr txBox="1"/>
          <p:nvPr>
            <p:ph idx="4294967295" type="title"/>
          </p:nvPr>
        </p:nvSpPr>
        <p:spPr>
          <a:xfrm>
            <a:off x="3705100" y="3146675"/>
            <a:ext cx="1863600" cy="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Knowledge Graph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25" name="Google Shape;125;p17"/>
          <p:cNvSpPr txBox="1"/>
          <p:nvPr>
            <p:ph idx="4294967295" type="title"/>
          </p:nvPr>
        </p:nvSpPr>
        <p:spPr>
          <a:xfrm>
            <a:off x="6150250" y="3146675"/>
            <a:ext cx="22905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Scalable Architecture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8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/>
          <p:nvPr/>
        </p:nvSpPr>
        <p:spPr>
          <a:xfrm>
            <a:off x="228600" y="228600"/>
            <a:ext cx="8689897" cy="4670639"/>
          </a:xfrm>
          <a:custGeom>
            <a:rect b="b" l="l" r="r" t="t"/>
            <a:pathLst>
              <a:path extrusionOk="0" h="4694110" w="8668226">
                <a:moveTo>
                  <a:pt x="8579739" y="88487"/>
                </a:moveTo>
                <a:cubicBezTo>
                  <a:pt x="8523065" y="31814"/>
                  <a:pt x="8446294" y="0"/>
                  <a:pt x="8366189" y="0"/>
                </a:cubicBezTo>
                <a:lnTo>
                  <a:pt x="302038" y="0"/>
                </a:lnTo>
                <a:cubicBezTo>
                  <a:pt x="135255" y="0"/>
                  <a:pt x="0" y="135255"/>
                  <a:pt x="0" y="302038"/>
                </a:cubicBezTo>
                <a:lnTo>
                  <a:pt x="0" y="4392073"/>
                </a:lnTo>
                <a:cubicBezTo>
                  <a:pt x="0" y="4558856"/>
                  <a:pt x="135255" y="4694111"/>
                  <a:pt x="302038" y="4694111"/>
                </a:cubicBezTo>
                <a:lnTo>
                  <a:pt x="8366189" y="4694111"/>
                </a:lnTo>
                <a:cubicBezTo>
                  <a:pt x="8532971" y="4694111"/>
                  <a:pt x="8668226" y="4558856"/>
                  <a:pt x="8668226" y="4392073"/>
                </a:cubicBezTo>
                <a:lnTo>
                  <a:pt x="8668226" y="302038"/>
                </a:lnTo>
                <a:cubicBezTo>
                  <a:pt x="8668226" y="221933"/>
                  <a:pt x="8636413" y="145161"/>
                  <a:pt x="8579739" y="88487"/>
                </a:cubicBezTo>
                <a:close/>
                <a:moveTo>
                  <a:pt x="8378571" y="4098798"/>
                </a:moveTo>
                <a:cubicBezTo>
                  <a:pt x="8378571" y="4267581"/>
                  <a:pt x="8241697" y="4404456"/>
                  <a:pt x="8072914" y="4404456"/>
                </a:cubicBezTo>
                <a:lnTo>
                  <a:pt x="4396264" y="4404456"/>
                </a:lnTo>
                <a:cubicBezTo>
                  <a:pt x="4227481" y="4404456"/>
                  <a:pt x="4090607" y="4267581"/>
                  <a:pt x="4090607" y="4098798"/>
                </a:cubicBezTo>
                <a:lnTo>
                  <a:pt x="4090607" y="3912870"/>
                </a:lnTo>
                <a:cubicBezTo>
                  <a:pt x="4090607" y="3744087"/>
                  <a:pt x="3953732" y="3607213"/>
                  <a:pt x="3784949" y="3607213"/>
                </a:cubicBezTo>
                <a:lnTo>
                  <a:pt x="595313" y="3607213"/>
                </a:lnTo>
                <a:cubicBezTo>
                  <a:pt x="426530" y="3607213"/>
                  <a:pt x="289655" y="3470339"/>
                  <a:pt x="289655" y="3301556"/>
                </a:cubicBezTo>
                <a:lnTo>
                  <a:pt x="289655" y="2469356"/>
                </a:lnTo>
                <a:cubicBezTo>
                  <a:pt x="289655" y="2300573"/>
                  <a:pt x="426530" y="2163699"/>
                  <a:pt x="595313" y="2163699"/>
                </a:cubicBezTo>
                <a:lnTo>
                  <a:pt x="4683919" y="2163699"/>
                </a:lnTo>
                <a:cubicBezTo>
                  <a:pt x="4852702" y="2163699"/>
                  <a:pt x="4989577" y="2026825"/>
                  <a:pt x="4989577" y="1858042"/>
                </a:cubicBezTo>
                <a:lnTo>
                  <a:pt x="4989577" y="584549"/>
                </a:lnTo>
                <a:cubicBezTo>
                  <a:pt x="4989577" y="415766"/>
                  <a:pt x="5126451" y="278892"/>
                  <a:pt x="5295233" y="278892"/>
                </a:cubicBezTo>
                <a:lnTo>
                  <a:pt x="6303074" y="278892"/>
                </a:lnTo>
                <a:cubicBezTo>
                  <a:pt x="6471857" y="278892"/>
                  <a:pt x="6608731" y="415766"/>
                  <a:pt x="6608731" y="584549"/>
                </a:cubicBezTo>
                <a:lnTo>
                  <a:pt x="6608731" y="1857851"/>
                </a:lnTo>
                <a:cubicBezTo>
                  <a:pt x="6608731" y="2026634"/>
                  <a:pt x="6745605" y="2163509"/>
                  <a:pt x="6914388" y="2163509"/>
                </a:cubicBezTo>
                <a:lnTo>
                  <a:pt x="8072724" y="2163509"/>
                </a:lnTo>
                <a:cubicBezTo>
                  <a:pt x="8241506" y="2163509"/>
                  <a:pt x="8378381" y="2300383"/>
                  <a:pt x="8378381" y="2469166"/>
                </a:cubicBezTo>
                <a:lnTo>
                  <a:pt x="8378381" y="40987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457200" y="629825"/>
            <a:ext cx="44427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919"/>
                </a:solidFill>
                <a:latin typeface="Boldonse"/>
                <a:ea typeface="Boldonse"/>
                <a:cs typeface="Boldonse"/>
                <a:sym typeface="Boldonse"/>
              </a:rPr>
              <a:t>The Dataset</a:t>
            </a:r>
            <a:endParaRPr sz="4000">
              <a:solidFill>
                <a:srgbClr val="191919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6580800" y="445025"/>
            <a:ext cx="21096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02</a:t>
            </a:r>
            <a:endParaRPr sz="60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57200" y="4064250"/>
            <a:ext cx="3531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 txBox="1"/>
          <p:nvPr>
            <p:ph type="title"/>
          </p:nvPr>
        </p:nvSpPr>
        <p:spPr>
          <a:xfrm>
            <a:off x="455400" y="3757400"/>
            <a:ext cx="82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Data Composition</a:t>
            </a:r>
            <a:endParaRPr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62950" y="660575"/>
            <a:ext cx="1505700" cy="726600"/>
          </a:xfrm>
          <a:prstGeom prst="roundRect">
            <a:avLst>
              <a:gd fmla="val 18356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Yelp Dataset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2141881" y="660575"/>
            <a:ext cx="1505700" cy="726600"/>
          </a:xfrm>
          <a:prstGeom prst="roundRect">
            <a:avLst>
              <a:gd fmla="val 17192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Filtering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3820813" y="660575"/>
            <a:ext cx="1505700" cy="726600"/>
          </a:xfrm>
          <a:prstGeom prst="roundRect">
            <a:avLst>
              <a:gd fmla="val 18623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Nodes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499744" y="660575"/>
            <a:ext cx="1505700" cy="726600"/>
          </a:xfrm>
          <a:prstGeom prst="roundRect">
            <a:avLst>
              <a:gd fmla="val 21354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Edges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7178675" y="660575"/>
            <a:ext cx="1505700" cy="726600"/>
          </a:xfrm>
          <a:prstGeom prst="roundRect">
            <a:avLst>
              <a:gd fmla="val 20186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Categories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cxnSp>
        <p:nvCxnSpPr>
          <p:cNvPr id="146" name="Google Shape;146;p19"/>
          <p:cNvCxnSpPr>
            <a:stCxn id="141" idx="2"/>
            <a:endCxn id="147" idx="0"/>
          </p:cNvCxnSpPr>
          <p:nvPr/>
        </p:nvCxnSpPr>
        <p:spPr>
          <a:xfrm>
            <a:off x="1215800" y="138717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9"/>
          <p:cNvCxnSpPr>
            <a:stCxn id="142" idx="2"/>
            <a:endCxn id="149" idx="0"/>
          </p:cNvCxnSpPr>
          <p:nvPr/>
        </p:nvCxnSpPr>
        <p:spPr>
          <a:xfrm>
            <a:off x="2894731" y="138717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9"/>
          <p:cNvCxnSpPr>
            <a:stCxn id="143" idx="2"/>
            <a:endCxn id="151" idx="0"/>
          </p:cNvCxnSpPr>
          <p:nvPr/>
        </p:nvCxnSpPr>
        <p:spPr>
          <a:xfrm>
            <a:off x="4573663" y="138717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p19"/>
          <p:cNvCxnSpPr>
            <a:stCxn id="145" idx="2"/>
            <a:endCxn id="153" idx="0"/>
          </p:cNvCxnSpPr>
          <p:nvPr/>
        </p:nvCxnSpPr>
        <p:spPr>
          <a:xfrm>
            <a:off x="7931525" y="138717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19"/>
          <p:cNvSpPr txBox="1"/>
          <p:nvPr/>
        </p:nvSpPr>
        <p:spPr>
          <a:xfrm>
            <a:off x="457225" y="1778200"/>
            <a:ext cx="15174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Rethink Sans"/>
                <a:ea typeface="Rethink Sans"/>
                <a:cs typeface="Rethink Sans"/>
                <a:sym typeface="Rethink Sans"/>
              </a:rPr>
              <a:t>150K+ Businesses</a:t>
            </a:r>
            <a:endParaRPr sz="12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Rethink Sans"/>
                <a:ea typeface="Rethink Sans"/>
                <a:cs typeface="Rethink Sans"/>
                <a:sym typeface="Rethink Sans"/>
              </a:rPr>
              <a:t>1M+ Users</a:t>
            </a:r>
            <a:endParaRPr sz="12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Rethink Sans"/>
                <a:ea typeface="Rethink Sans"/>
                <a:cs typeface="Rethink Sans"/>
                <a:sym typeface="Rethink Sans"/>
              </a:rPr>
              <a:t>11 Metro areas</a:t>
            </a:r>
            <a:endParaRPr sz="12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cxnSp>
        <p:nvCxnSpPr>
          <p:cNvPr id="154" name="Google Shape;154;p19"/>
          <p:cNvCxnSpPr>
            <a:stCxn id="144" idx="2"/>
            <a:endCxn id="155" idx="0"/>
          </p:cNvCxnSpPr>
          <p:nvPr/>
        </p:nvCxnSpPr>
        <p:spPr>
          <a:xfrm>
            <a:off x="6252594" y="1387175"/>
            <a:ext cx="0" cy="390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9"/>
          <p:cNvSpPr txBox="1"/>
          <p:nvPr/>
        </p:nvSpPr>
        <p:spPr>
          <a:xfrm>
            <a:off x="2136157" y="1778200"/>
            <a:ext cx="15174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Filter to only top Restaurants in Philadelphia</a:t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pic>
        <p:nvPicPr>
          <p:cNvPr id="156" name="Google Shape;156;p19" title="Screenshot 2026-03-09 at 11.55.16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9750" y="2521025"/>
            <a:ext cx="4399426" cy="21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3815100" y="1778200"/>
            <a:ext cx="15174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82,502 Nodes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(499 restaurants, 31,793 users, 50,000 reviews, 210 categories)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5327250" y="1778200"/>
            <a:ext cx="1850700" cy="1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103,775 Edges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(User→Review, Review→Restaurant, Restaurant→Category)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7172951" y="1778200"/>
            <a:ext cx="15174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Cuisine types, price (1–4), attire (casual/dressy), ambience tags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cxnSp>
        <p:nvCxnSpPr>
          <p:cNvPr id="157" name="Google Shape;157;p19"/>
          <p:cNvCxnSpPr>
            <a:stCxn id="141" idx="3"/>
            <a:endCxn id="142" idx="1"/>
          </p:cNvCxnSpPr>
          <p:nvPr/>
        </p:nvCxnSpPr>
        <p:spPr>
          <a:xfrm>
            <a:off x="1968650" y="1023875"/>
            <a:ext cx="1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0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/>
          <p:nvPr/>
        </p:nvSpPr>
        <p:spPr>
          <a:xfrm>
            <a:off x="228600" y="228600"/>
            <a:ext cx="8689897" cy="4670639"/>
          </a:xfrm>
          <a:custGeom>
            <a:rect b="b" l="l" r="r" t="t"/>
            <a:pathLst>
              <a:path extrusionOk="0" h="4694110" w="8668226">
                <a:moveTo>
                  <a:pt x="8579739" y="88487"/>
                </a:moveTo>
                <a:cubicBezTo>
                  <a:pt x="8523065" y="31814"/>
                  <a:pt x="8446294" y="0"/>
                  <a:pt x="8366189" y="0"/>
                </a:cubicBezTo>
                <a:lnTo>
                  <a:pt x="302038" y="0"/>
                </a:lnTo>
                <a:cubicBezTo>
                  <a:pt x="135255" y="0"/>
                  <a:pt x="0" y="135255"/>
                  <a:pt x="0" y="302038"/>
                </a:cubicBezTo>
                <a:lnTo>
                  <a:pt x="0" y="4392073"/>
                </a:lnTo>
                <a:cubicBezTo>
                  <a:pt x="0" y="4558856"/>
                  <a:pt x="135255" y="4694111"/>
                  <a:pt x="302038" y="4694111"/>
                </a:cubicBezTo>
                <a:lnTo>
                  <a:pt x="8366189" y="4694111"/>
                </a:lnTo>
                <a:cubicBezTo>
                  <a:pt x="8532971" y="4694111"/>
                  <a:pt x="8668226" y="4558856"/>
                  <a:pt x="8668226" y="4392073"/>
                </a:cubicBezTo>
                <a:lnTo>
                  <a:pt x="8668226" y="302038"/>
                </a:lnTo>
                <a:cubicBezTo>
                  <a:pt x="8668226" y="221933"/>
                  <a:pt x="8636413" y="145161"/>
                  <a:pt x="8579739" y="88487"/>
                </a:cubicBezTo>
                <a:close/>
                <a:moveTo>
                  <a:pt x="8378571" y="4098798"/>
                </a:moveTo>
                <a:cubicBezTo>
                  <a:pt x="8378571" y="4267581"/>
                  <a:pt x="8241697" y="4404456"/>
                  <a:pt x="8072914" y="4404456"/>
                </a:cubicBezTo>
                <a:lnTo>
                  <a:pt x="4396264" y="4404456"/>
                </a:lnTo>
                <a:cubicBezTo>
                  <a:pt x="4227481" y="4404456"/>
                  <a:pt x="4090607" y="4267581"/>
                  <a:pt x="4090607" y="4098798"/>
                </a:cubicBezTo>
                <a:lnTo>
                  <a:pt x="4090607" y="3912870"/>
                </a:lnTo>
                <a:cubicBezTo>
                  <a:pt x="4090607" y="3744087"/>
                  <a:pt x="3953732" y="3607213"/>
                  <a:pt x="3784949" y="3607213"/>
                </a:cubicBezTo>
                <a:lnTo>
                  <a:pt x="595313" y="3607213"/>
                </a:lnTo>
                <a:cubicBezTo>
                  <a:pt x="426530" y="3607213"/>
                  <a:pt x="289655" y="3470339"/>
                  <a:pt x="289655" y="3301556"/>
                </a:cubicBezTo>
                <a:lnTo>
                  <a:pt x="289655" y="2469356"/>
                </a:lnTo>
                <a:cubicBezTo>
                  <a:pt x="289655" y="2300573"/>
                  <a:pt x="426530" y="2163699"/>
                  <a:pt x="595313" y="2163699"/>
                </a:cubicBezTo>
                <a:lnTo>
                  <a:pt x="4683919" y="2163699"/>
                </a:lnTo>
                <a:cubicBezTo>
                  <a:pt x="4852702" y="2163699"/>
                  <a:pt x="4989577" y="2026825"/>
                  <a:pt x="4989577" y="1858042"/>
                </a:cubicBezTo>
                <a:lnTo>
                  <a:pt x="4989577" y="584549"/>
                </a:lnTo>
                <a:cubicBezTo>
                  <a:pt x="4989577" y="415766"/>
                  <a:pt x="5126451" y="278892"/>
                  <a:pt x="5295233" y="278892"/>
                </a:cubicBezTo>
                <a:lnTo>
                  <a:pt x="6303074" y="278892"/>
                </a:lnTo>
                <a:cubicBezTo>
                  <a:pt x="6471857" y="278892"/>
                  <a:pt x="6608731" y="415766"/>
                  <a:pt x="6608731" y="584549"/>
                </a:cubicBezTo>
                <a:lnTo>
                  <a:pt x="6608731" y="1857851"/>
                </a:lnTo>
                <a:cubicBezTo>
                  <a:pt x="6608731" y="2026634"/>
                  <a:pt x="6745605" y="2163509"/>
                  <a:pt x="6914388" y="2163509"/>
                </a:cubicBezTo>
                <a:lnTo>
                  <a:pt x="8072724" y="2163509"/>
                </a:lnTo>
                <a:cubicBezTo>
                  <a:pt x="8241506" y="2163509"/>
                  <a:pt x="8378381" y="2300383"/>
                  <a:pt x="8378381" y="2469166"/>
                </a:cubicBezTo>
                <a:lnTo>
                  <a:pt x="8378381" y="40987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57200" y="521225"/>
            <a:ext cx="44427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919"/>
                </a:solidFill>
                <a:latin typeface="Boldonse"/>
                <a:ea typeface="Boldonse"/>
                <a:cs typeface="Boldonse"/>
                <a:sym typeface="Boldonse"/>
              </a:rPr>
              <a:t>Network Analysis</a:t>
            </a:r>
            <a:endParaRPr sz="4000">
              <a:solidFill>
                <a:srgbClr val="191919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580800" y="445025"/>
            <a:ext cx="21096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03</a:t>
            </a:r>
            <a:endParaRPr sz="60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57200" y="3956250"/>
            <a:ext cx="3330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5">
            <a:alphaModFix/>
          </a:blip>
          <a:srcRect b="0" l="27212" r="35031" t="6812"/>
          <a:stretch/>
        </p:blipFill>
        <p:spPr>
          <a:xfrm rot="5400000">
            <a:off x="271399" y="230663"/>
            <a:ext cx="4534502" cy="4620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4" name="Google Shape;174;p21"/>
          <p:cNvSpPr txBox="1"/>
          <p:nvPr>
            <p:ph type="title"/>
          </p:nvPr>
        </p:nvSpPr>
        <p:spPr>
          <a:xfrm>
            <a:off x="457200" y="380692"/>
            <a:ext cx="82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How Network Was Made</a:t>
            </a:r>
            <a:endParaRPr>
              <a:latin typeface="Boldonse"/>
              <a:ea typeface="Boldonse"/>
              <a:cs typeface="Boldonse"/>
              <a:sym typeface="Boldonse"/>
            </a:endParaRPr>
          </a:p>
        </p:txBody>
      </p:sp>
      <p:pic>
        <p:nvPicPr>
          <p:cNvPr id="175" name="Google Shape;17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9" y="3777530"/>
            <a:ext cx="4953026" cy="114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99820" y="3607792"/>
            <a:ext cx="2953199" cy="16973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7" name="Google Shape;177;p21"/>
          <p:cNvSpPr txBox="1"/>
          <p:nvPr>
            <p:ph idx="4294967295" type="title"/>
          </p:nvPr>
        </p:nvSpPr>
        <p:spPr>
          <a:xfrm>
            <a:off x="457200" y="836992"/>
            <a:ext cx="31143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NETWORK FEATURES</a:t>
            </a:r>
            <a:endParaRPr sz="20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pic>
        <p:nvPicPr>
          <p:cNvPr id="178" name="Google Shape;178;p21" title="Screenshot 2026-03-09 at 2.27.49 PM.png"/>
          <p:cNvPicPr preferRelativeResize="0"/>
          <p:nvPr/>
        </p:nvPicPr>
        <p:blipFill rotWithShape="1">
          <a:blip r:embed="rId8">
            <a:alphaModFix/>
          </a:blip>
          <a:srcRect b="29463" l="0" r="0" t="0"/>
          <a:stretch/>
        </p:blipFill>
        <p:spPr>
          <a:xfrm>
            <a:off x="5315338" y="1128363"/>
            <a:ext cx="3466349" cy="2445001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1"/>
          <p:cNvSpPr/>
          <p:nvPr/>
        </p:nvSpPr>
        <p:spPr>
          <a:xfrm>
            <a:off x="4902600" y="930475"/>
            <a:ext cx="3912600" cy="2643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982775" y="1013675"/>
            <a:ext cx="14691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oldonse"/>
                <a:ea typeface="Boldonse"/>
                <a:cs typeface="Boldonse"/>
                <a:sym typeface="Boldonse"/>
              </a:rPr>
              <a:t>Zoom in →</a:t>
            </a:r>
            <a:endParaRPr sz="1200">
              <a:solidFill>
                <a:schemeClr val="dk2"/>
              </a:solidFill>
              <a:latin typeface="Boldonse"/>
              <a:ea typeface="Boldonse"/>
              <a:cs typeface="Boldonse"/>
              <a:sym typeface="Boldons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oldonse"/>
                <a:ea typeface="Boldonse"/>
                <a:cs typeface="Boldonse"/>
                <a:sym typeface="Boldonse"/>
              </a:rPr>
              <a:t>Restaurant Amada Example</a:t>
            </a:r>
            <a:endParaRPr sz="1200">
              <a:solidFill>
                <a:schemeClr val="dk2"/>
              </a:solidFill>
              <a:latin typeface="Boldonse"/>
              <a:ea typeface="Boldonse"/>
              <a:cs typeface="Boldonse"/>
              <a:sym typeface="Boldons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2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2" title="Screenshot 2026-03-09 at 2.49.0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1900" y="722900"/>
            <a:ext cx="5741975" cy="41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>
            <p:ph type="title"/>
          </p:nvPr>
        </p:nvSpPr>
        <p:spPr>
          <a:xfrm>
            <a:off x="457200" y="359612"/>
            <a:ext cx="82332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How Network Was Made</a:t>
            </a:r>
            <a:endParaRPr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89" name="Google Shape;189;p22"/>
          <p:cNvSpPr txBox="1"/>
          <p:nvPr>
            <p:ph idx="4294967295" type="title"/>
          </p:nvPr>
        </p:nvSpPr>
        <p:spPr>
          <a:xfrm>
            <a:off x="457200" y="815912"/>
            <a:ext cx="3114300" cy="3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NETWORK FEATURES</a:t>
            </a:r>
            <a:endParaRPr sz="20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7800" y="4583450"/>
            <a:ext cx="2352600" cy="2301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"/>
          <p:cNvSpPr txBox="1"/>
          <p:nvPr>
            <p:ph type="title"/>
          </p:nvPr>
        </p:nvSpPr>
        <p:spPr>
          <a:xfrm>
            <a:off x="457200" y="521225"/>
            <a:ext cx="82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How Communities Were Made</a:t>
            </a:r>
            <a:endParaRPr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553200" y="1950750"/>
            <a:ext cx="3840900" cy="284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3"/>
          <p:cNvSpPr txBox="1"/>
          <p:nvPr>
            <p:ph idx="4294967295" type="subTitle"/>
          </p:nvPr>
        </p:nvSpPr>
        <p:spPr>
          <a:xfrm>
            <a:off x="652650" y="2074950"/>
            <a:ext cx="3642000" cy="25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●"/>
            </a:pP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Bipartite Graph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●"/>
            </a:pP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Attributes</a:t>
            </a: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: 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○"/>
            </a:pP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Cuisine and Ambiance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●"/>
            </a:pP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Filtered out: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○"/>
            </a:pPr>
            <a:r>
              <a:rPr b="1" lang="en" sz="1200">
                <a:latin typeface="Rethink Sans"/>
                <a:ea typeface="Rethink Sans"/>
                <a:cs typeface="Rethink Sans"/>
                <a:sym typeface="Rethink Sans"/>
              </a:rPr>
              <a:t>Price and Attire</a:t>
            </a:r>
            <a:endParaRPr b="1"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○"/>
            </a:pPr>
            <a:r>
              <a:rPr b="1" lang="en" sz="1200">
                <a:latin typeface="Rethink Sans"/>
                <a:ea typeface="Rethink Sans"/>
                <a:cs typeface="Rethink Sans"/>
                <a:sym typeface="Rethink Sans"/>
              </a:rPr>
              <a:t>Common Cuisines</a:t>
            </a: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: “Restaurant”, “Breakfast &amp; Brunch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○"/>
            </a:pPr>
            <a:r>
              <a:rPr b="1" lang="en" sz="1200">
                <a:latin typeface="Rethink Sans"/>
                <a:ea typeface="Rethink Sans"/>
                <a:cs typeface="Rethink Sans"/>
                <a:sym typeface="Rethink Sans"/>
              </a:rPr>
              <a:t>Common Ambiance: </a:t>
            </a: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“Casual”, “Classy”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●"/>
            </a:pP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Min Attributes Shared: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Rethink Sans"/>
              <a:buChar char="○"/>
            </a:pPr>
            <a:r>
              <a:rPr lang="en" sz="1200">
                <a:latin typeface="Rethink Sans"/>
                <a:ea typeface="Rethink Sans"/>
                <a:cs typeface="Rethink Sans"/>
                <a:sym typeface="Rethink Sans"/>
              </a:rPr>
              <a:t>2</a:t>
            </a:r>
            <a:endParaRPr sz="1200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00" name="Google Shape;200;p23"/>
          <p:cNvSpPr txBox="1"/>
          <p:nvPr>
            <p:ph idx="4294967295" type="title"/>
          </p:nvPr>
        </p:nvSpPr>
        <p:spPr>
          <a:xfrm>
            <a:off x="588000" y="1472550"/>
            <a:ext cx="3442800" cy="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COMMUNITY</a:t>
            </a: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 FEATURES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4675243" y="1950750"/>
            <a:ext cx="3840900" cy="284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 txBox="1"/>
          <p:nvPr>
            <p:ph idx="4294967295" type="subTitle"/>
          </p:nvPr>
        </p:nvSpPr>
        <p:spPr>
          <a:xfrm>
            <a:off x="4636800" y="2046843"/>
            <a:ext cx="2225700" cy="14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mpact"/>
              <a:buAutoNum type="arabicPeriod"/>
            </a:pPr>
            <a:r>
              <a:rPr lang="en" sz="1200">
                <a:latin typeface="Impact"/>
                <a:ea typeface="Impact"/>
                <a:cs typeface="Impact"/>
                <a:sym typeface="Impact"/>
              </a:rPr>
              <a:t>Coffee &amp; Dessert Cafés</a:t>
            </a:r>
            <a:endParaRPr sz="1200"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mpact"/>
              <a:buAutoNum type="arabicPeriod"/>
            </a:pPr>
            <a:r>
              <a:rPr lang="en" sz="1200">
                <a:latin typeface="Impact"/>
                <a:ea typeface="Impact"/>
                <a:cs typeface="Impact"/>
                <a:sym typeface="Impact"/>
              </a:rPr>
              <a:t>Upscale Romantic Dining</a:t>
            </a:r>
            <a:endParaRPr sz="1200"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mpact"/>
              <a:buAutoNum type="arabicPeriod"/>
            </a:pPr>
            <a:r>
              <a:rPr lang="en" sz="1200">
                <a:latin typeface="Impact"/>
                <a:ea typeface="Impact"/>
                <a:cs typeface="Impact"/>
                <a:sym typeface="Impact"/>
              </a:rPr>
              <a:t>Gastropubs &amp; Bars</a:t>
            </a:r>
            <a:endParaRPr sz="1200"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mpact"/>
              <a:buAutoNum type="arabicPeriod"/>
            </a:pPr>
            <a:r>
              <a:rPr lang="en" sz="1200">
                <a:latin typeface="Impact"/>
                <a:ea typeface="Impact"/>
                <a:cs typeface="Impact"/>
                <a:sym typeface="Impact"/>
              </a:rPr>
              <a:t>Beer Bars</a:t>
            </a:r>
            <a:endParaRPr sz="1200"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Impact"/>
              <a:buAutoNum type="arabicPeriod"/>
            </a:pPr>
            <a:r>
              <a:rPr lang="en" sz="1200">
                <a:latin typeface="Impact"/>
                <a:ea typeface="Impact"/>
                <a:cs typeface="Impact"/>
                <a:sym typeface="Impact"/>
              </a:rPr>
              <a:t>Cheesesteaks &amp; Sandwich Shops</a:t>
            </a:r>
            <a:endParaRPr sz="12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3" name="Google Shape;203;p23"/>
          <p:cNvSpPr txBox="1"/>
          <p:nvPr>
            <p:ph idx="4294967295" type="title"/>
          </p:nvPr>
        </p:nvSpPr>
        <p:spPr>
          <a:xfrm>
            <a:off x="5083100" y="1472550"/>
            <a:ext cx="3088800" cy="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FINAL COMMUNITIES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6542645" y="3333567"/>
            <a:ext cx="18738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mpact"/>
              <a:buAutoNum type="arabicPeriod" startAt="6"/>
            </a:pPr>
            <a:r>
              <a:rPr lang="en" sz="12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Chinese / Dim Sum</a:t>
            </a:r>
            <a:endParaRPr sz="12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mpact"/>
              <a:buAutoNum type="arabicPeriod" startAt="6"/>
            </a:pPr>
            <a:r>
              <a:rPr lang="en" sz="12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Vegan &amp; Vegetarian</a:t>
            </a:r>
            <a:endParaRPr sz="12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mpact"/>
              <a:buAutoNum type="arabicPeriod" startAt="6"/>
            </a:pPr>
            <a:r>
              <a:rPr lang="en" sz="12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Japanese / Sushi</a:t>
            </a:r>
            <a:endParaRPr sz="12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mpact"/>
              <a:buAutoNum type="arabicPeriod" startAt="6"/>
            </a:pPr>
            <a:r>
              <a:rPr lang="en" sz="12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Italian / Pizza</a:t>
            </a:r>
            <a:endParaRPr sz="12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mpact"/>
              <a:buAutoNum type="arabicPeriod" startAt="6"/>
            </a:pPr>
            <a:r>
              <a:rPr lang="en" sz="12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Mexican / Tacos</a:t>
            </a:r>
            <a:endParaRPr sz="12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mpact"/>
              <a:buAutoNum type="arabicPeriod" startAt="6"/>
            </a:pPr>
            <a:r>
              <a:rPr lang="en" sz="1200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Diners</a:t>
            </a:r>
            <a:endParaRPr sz="12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4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"/>
          <p:cNvSpPr txBox="1"/>
          <p:nvPr>
            <p:ph type="title"/>
          </p:nvPr>
        </p:nvSpPr>
        <p:spPr>
          <a:xfrm>
            <a:off x="457200" y="521225"/>
            <a:ext cx="82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How Communities Were Made</a:t>
            </a:r>
            <a:endParaRPr>
              <a:latin typeface="Boldonse"/>
              <a:ea typeface="Boldonse"/>
              <a:cs typeface="Boldonse"/>
              <a:sym typeface="Boldonse"/>
            </a:endParaRPr>
          </a:p>
        </p:txBody>
      </p:sp>
      <p:pic>
        <p:nvPicPr>
          <p:cNvPr id="212" name="Google Shape;21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5201" y="1230722"/>
            <a:ext cx="4741625" cy="363811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 txBox="1"/>
          <p:nvPr>
            <p:ph idx="4294967295" type="subTitle"/>
          </p:nvPr>
        </p:nvSpPr>
        <p:spPr>
          <a:xfrm>
            <a:off x="488400" y="2074950"/>
            <a:ext cx="4148400" cy="25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think Sans"/>
              <a:buChar char="●"/>
            </a:pPr>
            <a:r>
              <a:rPr lang="en" sz="1000">
                <a:latin typeface="Rethink Sans"/>
                <a:ea typeface="Rethink Sans"/>
                <a:cs typeface="Rethink Sans"/>
                <a:sym typeface="Rethink Sans"/>
              </a:rPr>
              <a:t>Top tags: </a:t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29210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think Sans"/>
              <a:buChar char="○"/>
            </a:pPr>
            <a:r>
              <a:rPr lang="en" sz="1000">
                <a:latin typeface="Rethink Sans"/>
                <a:ea typeface="Rethink Sans"/>
                <a:cs typeface="Rethink Sans"/>
                <a:sym typeface="Rethink Sans"/>
              </a:rPr>
              <a:t>Japanese, Sushi Bars, trendy, Asian Fusion, Korean</a:t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2921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think Sans"/>
              <a:buChar char="●"/>
            </a:pPr>
            <a:r>
              <a:rPr lang="en" sz="1000">
                <a:latin typeface="Rethink Sans"/>
                <a:ea typeface="Rethink Sans"/>
                <a:cs typeface="Rethink Sans"/>
                <a:sym typeface="Rethink Sans"/>
              </a:rPr>
              <a:t>32 restaurants | Mixed price range $–$$$</a:t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2921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think Sans"/>
              <a:buChar char="●"/>
            </a:pPr>
            <a:r>
              <a:rPr lang="en" sz="1000">
                <a:latin typeface="Rethink Sans"/>
                <a:ea typeface="Rethink Sans"/>
                <a:cs typeface="Rethink Sans"/>
                <a:sym typeface="Rethink Sans"/>
              </a:rPr>
              <a:t>Examples: </a:t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29210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think Sans"/>
              <a:buChar char="○"/>
            </a:pPr>
            <a:r>
              <a:rPr lang="en" sz="1000">
                <a:latin typeface="Rethink Sans"/>
                <a:ea typeface="Rethink Sans"/>
                <a:cs typeface="Rethink Sans"/>
                <a:sym typeface="Rethink Sans"/>
              </a:rPr>
              <a:t>Bleu Sushi, Bonchon Philadelphia, Aki Nom Nom Sushi &amp; Ramen</a:t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  <a:p>
            <a:pPr indent="-2921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think Sans"/>
              <a:buChar char="●"/>
            </a:pPr>
            <a:r>
              <a:rPr lang="en" sz="1000">
                <a:latin typeface="Rethink Sans"/>
                <a:ea typeface="Rethink Sans"/>
                <a:cs typeface="Rethink Sans"/>
                <a:sym typeface="Rethink Sans"/>
              </a:rPr>
              <a:t>Tight cluster — sushi and Korean share trendy, casual ambience and Asian fusion overlap</a:t>
            </a:r>
            <a:endParaRPr sz="1000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14" name="Google Shape;214;p24"/>
          <p:cNvSpPr txBox="1"/>
          <p:nvPr>
            <p:ph idx="4294967295" type="title"/>
          </p:nvPr>
        </p:nvSpPr>
        <p:spPr>
          <a:xfrm>
            <a:off x="488400" y="1472550"/>
            <a:ext cx="3442800" cy="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COMMUNITY EXAMPLE</a:t>
            </a:r>
            <a:endParaRPr sz="18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5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/>
          <p:nvPr/>
        </p:nvSpPr>
        <p:spPr>
          <a:xfrm>
            <a:off x="228600" y="228600"/>
            <a:ext cx="8689897" cy="4670639"/>
          </a:xfrm>
          <a:custGeom>
            <a:rect b="b" l="l" r="r" t="t"/>
            <a:pathLst>
              <a:path extrusionOk="0" h="4694110" w="8668226">
                <a:moveTo>
                  <a:pt x="8579739" y="88487"/>
                </a:moveTo>
                <a:cubicBezTo>
                  <a:pt x="8523065" y="31814"/>
                  <a:pt x="8446294" y="0"/>
                  <a:pt x="8366189" y="0"/>
                </a:cubicBezTo>
                <a:lnTo>
                  <a:pt x="302038" y="0"/>
                </a:lnTo>
                <a:cubicBezTo>
                  <a:pt x="135255" y="0"/>
                  <a:pt x="0" y="135255"/>
                  <a:pt x="0" y="302038"/>
                </a:cubicBezTo>
                <a:lnTo>
                  <a:pt x="0" y="4392073"/>
                </a:lnTo>
                <a:cubicBezTo>
                  <a:pt x="0" y="4558856"/>
                  <a:pt x="135255" y="4694111"/>
                  <a:pt x="302038" y="4694111"/>
                </a:cubicBezTo>
                <a:lnTo>
                  <a:pt x="8366189" y="4694111"/>
                </a:lnTo>
                <a:cubicBezTo>
                  <a:pt x="8532971" y="4694111"/>
                  <a:pt x="8668226" y="4558856"/>
                  <a:pt x="8668226" y="4392073"/>
                </a:cubicBezTo>
                <a:lnTo>
                  <a:pt x="8668226" y="302038"/>
                </a:lnTo>
                <a:cubicBezTo>
                  <a:pt x="8668226" y="221933"/>
                  <a:pt x="8636413" y="145161"/>
                  <a:pt x="8579739" y="88487"/>
                </a:cubicBezTo>
                <a:close/>
                <a:moveTo>
                  <a:pt x="8378571" y="4098798"/>
                </a:moveTo>
                <a:cubicBezTo>
                  <a:pt x="8378571" y="4267581"/>
                  <a:pt x="8241697" y="4404456"/>
                  <a:pt x="8072914" y="4404456"/>
                </a:cubicBezTo>
                <a:lnTo>
                  <a:pt x="4396264" y="4404456"/>
                </a:lnTo>
                <a:cubicBezTo>
                  <a:pt x="4227481" y="4404456"/>
                  <a:pt x="4090607" y="4267581"/>
                  <a:pt x="4090607" y="4098798"/>
                </a:cubicBezTo>
                <a:lnTo>
                  <a:pt x="4090607" y="3912870"/>
                </a:lnTo>
                <a:cubicBezTo>
                  <a:pt x="4090607" y="3744087"/>
                  <a:pt x="3953732" y="3607213"/>
                  <a:pt x="3784949" y="3607213"/>
                </a:cubicBezTo>
                <a:lnTo>
                  <a:pt x="595313" y="3607213"/>
                </a:lnTo>
                <a:cubicBezTo>
                  <a:pt x="426530" y="3607213"/>
                  <a:pt x="289655" y="3470339"/>
                  <a:pt x="289655" y="3301556"/>
                </a:cubicBezTo>
                <a:lnTo>
                  <a:pt x="289655" y="2469356"/>
                </a:lnTo>
                <a:cubicBezTo>
                  <a:pt x="289655" y="2300573"/>
                  <a:pt x="426530" y="2163699"/>
                  <a:pt x="595313" y="2163699"/>
                </a:cubicBezTo>
                <a:lnTo>
                  <a:pt x="4683919" y="2163699"/>
                </a:lnTo>
                <a:cubicBezTo>
                  <a:pt x="4852702" y="2163699"/>
                  <a:pt x="4989577" y="2026825"/>
                  <a:pt x="4989577" y="1858042"/>
                </a:cubicBezTo>
                <a:lnTo>
                  <a:pt x="4989577" y="584549"/>
                </a:lnTo>
                <a:cubicBezTo>
                  <a:pt x="4989577" y="415766"/>
                  <a:pt x="5126451" y="278892"/>
                  <a:pt x="5295233" y="278892"/>
                </a:cubicBezTo>
                <a:lnTo>
                  <a:pt x="6303074" y="278892"/>
                </a:lnTo>
                <a:cubicBezTo>
                  <a:pt x="6471857" y="278892"/>
                  <a:pt x="6608731" y="415766"/>
                  <a:pt x="6608731" y="584549"/>
                </a:cubicBezTo>
                <a:lnTo>
                  <a:pt x="6608731" y="1857851"/>
                </a:lnTo>
                <a:cubicBezTo>
                  <a:pt x="6608731" y="2026634"/>
                  <a:pt x="6745605" y="2163509"/>
                  <a:pt x="6914388" y="2163509"/>
                </a:cubicBezTo>
                <a:lnTo>
                  <a:pt x="8072724" y="2163509"/>
                </a:lnTo>
                <a:cubicBezTo>
                  <a:pt x="8241506" y="2163509"/>
                  <a:pt x="8378381" y="2300383"/>
                  <a:pt x="8378381" y="2469166"/>
                </a:cubicBezTo>
                <a:lnTo>
                  <a:pt x="8378381" y="40987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457200" y="521225"/>
            <a:ext cx="44427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91919"/>
                </a:solidFill>
                <a:latin typeface="Boldonse"/>
                <a:ea typeface="Boldonse"/>
                <a:cs typeface="Boldonse"/>
                <a:sym typeface="Boldonse"/>
              </a:rPr>
              <a:t>Model Architecture</a:t>
            </a:r>
            <a:endParaRPr sz="4000">
              <a:solidFill>
                <a:srgbClr val="191919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6580800" y="445025"/>
            <a:ext cx="21096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04</a:t>
            </a:r>
            <a:endParaRPr sz="60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457200" y="3956250"/>
            <a:ext cx="3330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6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6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"/>
          <p:cNvSpPr txBox="1"/>
          <p:nvPr>
            <p:ph idx="4294967295" type="title"/>
          </p:nvPr>
        </p:nvSpPr>
        <p:spPr>
          <a:xfrm>
            <a:off x="2417625" y="487275"/>
            <a:ext cx="75060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Vector Embeddings</a:t>
            </a:r>
            <a:endParaRPr sz="2520"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31" name="Google Shape;231;p26"/>
          <p:cNvSpPr txBox="1"/>
          <p:nvPr>
            <p:ph idx="4294967295" type="title"/>
          </p:nvPr>
        </p:nvSpPr>
        <p:spPr>
          <a:xfrm>
            <a:off x="4248525" y="1183150"/>
            <a:ext cx="14115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DATA VOLUME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32" name="Google Shape;232;p26"/>
          <p:cNvSpPr txBox="1"/>
          <p:nvPr>
            <p:ph idx="4294967295" type="subTitle"/>
          </p:nvPr>
        </p:nvSpPr>
        <p:spPr>
          <a:xfrm>
            <a:off x="4296225" y="1485250"/>
            <a:ext cx="2064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5,852 Philadelphia restaurants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687,289 reviews loaded    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 GB vector database  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pic>
        <p:nvPicPr>
          <p:cNvPr id="233" name="Google Shape;233;p26" title="image_fb0d04a.png"/>
          <p:cNvPicPr preferRelativeResize="0"/>
          <p:nvPr/>
        </p:nvPicPr>
        <p:blipFill rotWithShape="1">
          <a:blip r:embed="rId5">
            <a:alphaModFix/>
          </a:blip>
          <a:srcRect b="0" l="24737" r="17234" t="0"/>
          <a:stretch/>
        </p:blipFill>
        <p:spPr>
          <a:xfrm>
            <a:off x="779950" y="1183150"/>
            <a:ext cx="3425499" cy="32199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>
            <p:ph idx="4294967295" type="title"/>
          </p:nvPr>
        </p:nvSpPr>
        <p:spPr>
          <a:xfrm>
            <a:off x="6451900" y="1183150"/>
            <a:ext cx="16428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PROCESSING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35" name="Google Shape;235;p26"/>
          <p:cNvSpPr txBox="1"/>
          <p:nvPr>
            <p:ph idx="4294967295" type="subTitle"/>
          </p:nvPr>
        </p:nvSpPr>
        <p:spPr>
          <a:xfrm>
            <a:off x="6361125" y="1485250"/>
            <a:ext cx="2064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Model: all-MiniLM-L6-v2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Dimensions: 384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Runtime: 101 minutes  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6"/>
          <p:cNvSpPr txBox="1"/>
          <p:nvPr>
            <p:ph idx="4294967295" type="subTitle"/>
          </p:nvPr>
        </p:nvSpPr>
        <p:spPr>
          <a:xfrm>
            <a:off x="4379850" y="2844025"/>
            <a:ext cx="2064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Review_id - business_id      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rating  - year       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price_range            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restaurant_name                       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community_id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6"/>
          <p:cNvSpPr txBox="1"/>
          <p:nvPr>
            <p:ph idx="4294967295" type="title"/>
          </p:nvPr>
        </p:nvSpPr>
        <p:spPr>
          <a:xfrm>
            <a:off x="4379850" y="2526550"/>
            <a:ext cx="14115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METADATA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38" name="Google Shape;238;p26"/>
          <p:cNvSpPr txBox="1"/>
          <p:nvPr>
            <p:ph idx="4294967295" type="subTitle"/>
          </p:nvPr>
        </p:nvSpPr>
        <p:spPr>
          <a:xfrm>
            <a:off x="6361125" y="2844025"/>
            <a:ext cx="24714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500 business mappings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336,815 reviews tagged  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484 businesses with community IDs 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Communities 0-10 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6"/>
          <p:cNvSpPr txBox="1"/>
          <p:nvPr>
            <p:ph idx="4294967295" type="title"/>
          </p:nvPr>
        </p:nvSpPr>
        <p:spPr>
          <a:xfrm>
            <a:off x="6361125" y="2415450"/>
            <a:ext cx="20649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COMMUNITY INTEGRATION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/>
          <p:nvPr/>
        </p:nvSpPr>
        <p:spPr>
          <a:xfrm>
            <a:off x="226800" y="2355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45" name="Google Shape;245;p27"/>
          <p:cNvSpPr txBox="1"/>
          <p:nvPr>
            <p:ph type="title"/>
          </p:nvPr>
        </p:nvSpPr>
        <p:spPr>
          <a:xfrm>
            <a:off x="456400" y="4054725"/>
            <a:ext cx="823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LangGraph Orchestration</a:t>
            </a:r>
            <a:endParaRPr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63075" y="445025"/>
            <a:ext cx="1505700" cy="726600"/>
          </a:xfrm>
          <a:prstGeom prst="roundRect">
            <a:avLst>
              <a:gd fmla="val 18356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User Query</a:t>
            </a:r>
            <a:endParaRPr sz="10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2681294" y="444900"/>
            <a:ext cx="1505700" cy="726600"/>
          </a:xfrm>
          <a:prstGeom prst="roundRect">
            <a:avLst>
              <a:gd fmla="val 17192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LMM </a:t>
            </a: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Parsing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48" name="Google Shape;248;p27"/>
          <p:cNvSpPr/>
          <p:nvPr/>
        </p:nvSpPr>
        <p:spPr>
          <a:xfrm>
            <a:off x="4930044" y="445025"/>
            <a:ext cx="1505700" cy="726600"/>
          </a:xfrm>
          <a:prstGeom prst="roundRect">
            <a:avLst>
              <a:gd fmla="val 21354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LangGraph State Routing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7178800" y="445025"/>
            <a:ext cx="1505700" cy="726600"/>
          </a:xfrm>
          <a:prstGeom prst="roundRect">
            <a:avLst>
              <a:gd fmla="val 20186" name="adj"/>
            </a:avLst>
          </a:prstGeom>
          <a:solidFill>
            <a:srgbClr val="587E08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Retrieval</a:t>
            </a:r>
            <a:r>
              <a:rPr lang="en" sz="1200">
                <a:solidFill>
                  <a:schemeClr val="lt1"/>
                </a:solidFill>
                <a:latin typeface="Boldonse"/>
                <a:ea typeface="Boldonse"/>
                <a:cs typeface="Boldonse"/>
                <a:sym typeface="Boldonse"/>
              </a:rPr>
              <a:t> Call</a:t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353950" y="1562650"/>
            <a:ext cx="17502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Rethink Sans"/>
                <a:ea typeface="Rethink Sans"/>
                <a:cs typeface="Rethink Sans"/>
                <a:sym typeface="Rethink Sans"/>
              </a:rPr>
              <a:t>Accepts Natural Language Request from user describing their preferences.</a:t>
            </a:r>
            <a:endParaRPr sz="12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Rethink Sans"/>
                <a:ea typeface="Rethink Sans"/>
                <a:cs typeface="Rethink Sans"/>
                <a:sym typeface="Rethink Sans"/>
              </a:rPr>
              <a:t>What’s a fun but classy sushi place to take my girlfriend for our anniversary?</a:t>
            </a:r>
            <a:endParaRPr sz="12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4975600" y="3936500"/>
            <a:ext cx="37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2310575" y="1562650"/>
            <a:ext cx="22614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Uses the Gemini API to parse query and extract structured </a:t>
            </a: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fields</a:t>
            </a: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.</a:t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4650650" y="2474175"/>
            <a:ext cx="19971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m</a:t>
            </a: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issing _fields = [“price”]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“What price range should I target?”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4650650" y="1562650"/>
            <a:ext cx="20475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Manages</a:t>
            </a: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 workflow state and determines next action. Validates parsed </a:t>
            </a: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output</a:t>
            </a: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 for required </a:t>
            </a: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fields</a:t>
            </a: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.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6807425" y="1562650"/>
            <a:ext cx="2109600" cy="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Structured query is sent to retrieval pipeline.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2310575" y="2474050"/>
            <a:ext cx="22614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Rethink Sans"/>
                <a:ea typeface="Rethink Sans"/>
                <a:cs typeface="Rethink Sans"/>
                <a:sym typeface="Rethink Sans"/>
              </a:rPr>
              <a:t>cuisine = sushi, japanes</a:t>
            </a: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e</a:t>
            </a:r>
            <a:b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</a:b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vibe = lively, classy, romantic</a:t>
            </a:r>
            <a:b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</a:b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party_size = 2</a:t>
            </a:r>
            <a:b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</a:b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group_type = couple</a:t>
            </a:r>
            <a:endParaRPr sz="1200">
              <a:solidFill>
                <a:srgbClr val="301900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  <a:t>price_range = missing</a:t>
            </a:r>
            <a:br>
              <a:rPr lang="en" sz="1200">
                <a:solidFill>
                  <a:srgbClr val="301900"/>
                </a:solidFill>
                <a:latin typeface="Rethink Sans"/>
                <a:ea typeface="Rethink Sans"/>
                <a:cs typeface="Rethink Sans"/>
                <a:sym typeface="Rethink Sans"/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5569800" y="2782725"/>
            <a:ext cx="113100" cy="294300"/>
          </a:xfrm>
          <a:prstGeom prst="downArrow">
            <a:avLst>
              <a:gd fmla="val 0" name="adj1"/>
              <a:gd fmla="val 6489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27"/>
          <p:cNvCxnSpPr>
            <a:stCxn id="248" idx="2"/>
            <a:endCxn id="246" idx="2"/>
          </p:cNvCxnSpPr>
          <p:nvPr/>
        </p:nvCxnSpPr>
        <p:spPr>
          <a:xfrm rot="5400000">
            <a:off x="3449094" y="-1061575"/>
            <a:ext cx="600" cy="44670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7"/>
          <p:cNvCxnSpPr/>
          <p:nvPr/>
        </p:nvCxnSpPr>
        <p:spPr>
          <a:xfrm rot="10800000">
            <a:off x="1200600" y="1171675"/>
            <a:ext cx="87600" cy="5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7"/>
          <p:cNvCxnSpPr>
            <a:stCxn id="246" idx="3"/>
            <a:endCxn id="247" idx="1"/>
          </p:cNvCxnSpPr>
          <p:nvPr/>
        </p:nvCxnSpPr>
        <p:spPr>
          <a:xfrm>
            <a:off x="1968775" y="808325"/>
            <a:ext cx="712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7"/>
          <p:cNvCxnSpPr>
            <a:stCxn id="247" idx="3"/>
            <a:endCxn id="248" idx="1"/>
          </p:cNvCxnSpPr>
          <p:nvPr/>
        </p:nvCxnSpPr>
        <p:spPr>
          <a:xfrm>
            <a:off x="4186994" y="808200"/>
            <a:ext cx="7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7"/>
          <p:cNvCxnSpPr>
            <a:stCxn id="248" idx="3"/>
            <a:endCxn id="249" idx="1"/>
          </p:cNvCxnSpPr>
          <p:nvPr/>
        </p:nvCxnSpPr>
        <p:spPr>
          <a:xfrm>
            <a:off x="6435744" y="808325"/>
            <a:ext cx="7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7"/>
          <p:cNvSpPr txBox="1"/>
          <p:nvPr/>
        </p:nvSpPr>
        <p:spPr>
          <a:xfrm>
            <a:off x="6776825" y="2405300"/>
            <a:ext cx="2196300" cy="12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cuisine: ["sushi", "japanese"],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vibe: [lively, classy, romantic],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price_range: 3,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party_size: 2,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1D1D"/>
                </a:solidFill>
                <a:latin typeface="Rethink Sans"/>
                <a:ea typeface="Rethink Sans"/>
                <a:cs typeface="Rethink Sans"/>
                <a:sym typeface="Rethink Sans"/>
              </a:rPr>
              <a:t>group_type: couple,</a:t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D1D1D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8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8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28" title="image (1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8800" y="408475"/>
            <a:ext cx="7214400" cy="3938351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>
            <p:ph type="title"/>
          </p:nvPr>
        </p:nvSpPr>
        <p:spPr>
          <a:xfrm>
            <a:off x="457200" y="4270200"/>
            <a:ext cx="7651200" cy="7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Boldonse"/>
                <a:ea typeface="Boldonse"/>
                <a:cs typeface="Boldonse"/>
                <a:sym typeface="Boldonse"/>
              </a:rPr>
              <a:t>RAG </a:t>
            </a:r>
            <a:r>
              <a:rPr lang="en" sz="2500">
                <a:latin typeface="Boldonse"/>
                <a:ea typeface="Boldonse"/>
                <a:cs typeface="Boldonse"/>
                <a:sym typeface="Boldonse"/>
              </a:rPr>
              <a:t>Pipeline</a:t>
            </a:r>
            <a:endParaRPr sz="2500">
              <a:latin typeface="Boldonse"/>
              <a:ea typeface="Boldonse"/>
              <a:cs typeface="Boldonse"/>
              <a:sym typeface="Boldons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9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/>
          <p:nvPr/>
        </p:nvSpPr>
        <p:spPr>
          <a:xfrm>
            <a:off x="228600" y="228600"/>
            <a:ext cx="8689897" cy="4670639"/>
          </a:xfrm>
          <a:custGeom>
            <a:rect b="b" l="l" r="r" t="t"/>
            <a:pathLst>
              <a:path extrusionOk="0" h="4694110" w="8668226">
                <a:moveTo>
                  <a:pt x="8579739" y="88487"/>
                </a:moveTo>
                <a:cubicBezTo>
                  <a:pt x="8523065" y="31814"/>
                  <a:pt x="8446294" y="0"/>
                  <a:pt x="8366189" y="0"/>
                </a:cubicBezTo>
                <a:lnTo>
                  <a:pt x="302038" y="0"/>
                </a:lnTo>
                <a:cubicBezTo>
                  <a:pt x="135255" y="0"/>
                  <a:pt x="0" y="135255"/>
                  <a:pt x="0" y="302038"/>
                </a:cubicBezTo>
                <a:lnTo>
                  <a:pt x="0" y="4392073"/>
                </a:lnTo>
                <a:cubicBezTo>
                  <a:pt x="0" y="4558856"/>
                  <a:pt x="135255" y="4694111"/>
                  <a:pt x="302038" y="4694111"/>
                </a:cubicBezTo>
                <a:lnTo>
                  <a:pt x="8366189" y="4694111"/>
                </a:lnTo>
                <a:cubicBezTo>
                  <a:pt x="8532971" y="4694111"/>
                  <a:pt x="8668226" y="4558856"/>
                  <a:pt x="8668226" y="4392073"/>
                </a:cubicBezTo>
                <a:lnTo>
                  <a:pt x="8668226" y="302038"/>
                </a:lnTo>
                <a:cubicBezTo>
                  <a:pt x="8668226" y="221933"/>
                  <a:pt x="8636413" y="145161"/>
                  <a:pt x="8579739" y="88487"/>
                </a:cubicBezTo>
                <a:close/>
                <a:moveTo>
                  <a:pt x="8378571" y="4098798"/>
                </a:moveTo>
                <a:cubicBezTo>
                  <a:pt x="8378571" y="4267581"/>
                  <a:pt x="8241697" y="4404456"/>
                  <a:pt x="8072914" y="4404456"/>
                </a:cubicBezTo>
                <a:lnTo>
                  <a:pt x="4396264" y="4404456"/>
                </a:lnTo>
                <a:cubicBezTo>
                  <a:pt x="4227481" y="4404456"/>
                  <a:pt x="4090607" y="4267581"/>
                  <a:pt x="4090607" y="4098798"/>
                </a:cubicBezTo>
                <a:lnTo>
                  <a:pt x="4090607" y="3912870"/>
                </a:lnTo>
                <a:cubicBezTo>
                  <a:pt x="4090607" y="3744087"/>
                  <a:pt x="3953732" y="3607213"/>
                  <a:pt x="3784949" y="3607213"/>
                </a:cubicBezTo>
                <a:lnTo>
                  <a:pt x="595313" y="3607213"/>
                </a:lnTo>
                <a:cubicBezTo>
                  <a:pt x="426530" y="3607213"/>
                  <a:pt x="289655" y="3470339"/>
                  <a:pt x="289655" y="3301556"/>
                </a:cubicBezTo>
                <a:lnTo>
                  <a:pt x="289655" y="2469356"/>
                </a:lnTo>
                <a:cubicBezTo>
                  <a:pt x="289655" y="2300573"/>
                  <a:pt x="426530" y="2163699"/>
                  <a:pt x="595313" y="2163699"/>
                </a:cubicBezTo>
                <a:lnTo>
                  <a:pt x="4683919" y="2163699"/>
                </a:lnTo>
                <a:cubicBezTo>
                  <a:pt x="4852702" y="2163699"/>
                  <a:pt x="4989577" y="2026825"/>
                  <a:pt x="4989577" y="1858042"/>
                </a:cubicBezTo>
                <a:lnTo>
                  <a:pt x="4989577" y="584549"/>
                </a:lnTo>
                <a:cubicBezTo>
                  <a:pt x="4989577" y="415766"/>
                  <a:pt x="5126451" y="278892"/>
                  <a:pt x="5295233" y="278892"/>
                </a:cubicBezTo>
                <a:lnTo>
                  <a:pt x="6303074" y="278892"/>
                </a:lnTo>
                <a:cubicBezTo>
                  <a:pt x="6471857" y="278892"/>
                  <a:pt x="6608731" y="415766"/>
                  <a:pt x="6608731" y="584549"/>
                </a:cubicBezTo>
                <a:lnTo>
                  <a:pt x="6608731" y="1857851"/>
                </a:lnTo>
                <a:cubicBezTo>
                  <a:pt x="6608731" y="2026634"/>
                  <a:pt x="6745605" y="2163509"/>
                  <a:pt x="6914388" y="2163509"/>
                </a:cubicBezTo>
                <a:lnTo>
                  <a:pt x="8072724" y="2163509"/>
                </a:lnTo>
                <a:cubicBezTo>
                  <a:pt x="8241506" y="2163509"/>
                  <a:pt x="8378381" y="2300383"/>
                  <a:pt x="8378381" y="2469166"/>
                </a:cubicBezTo>
                <a:lnTo>
                  <a:pt x="8378381" y="40987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457200" y="629825"/>
            <a:ext cx="44427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191919"/>
                </a:solidFill>
                <a:latin typeface="Boldonse"/>
                <a:ea typeface="Boldonse"/>
                <a:cs typeface="Boldonse"/>
                <a:sym typeface="Boldonse"/>
              </a:rPr>
              <a:t>Demo</a:t>
            </a:r>
            <a:endParaRPr sz="4800">
              <a:solidFill>
                <a:srgbClr val="191919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6580800" y="445025"/>
            <a:ext cx="21096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05</a:t>
            </a:r>
            <a:endParaRPr sz="60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457200" y="3941850"/>
            <a:ext cx="33300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91919"/>
                </a:solidFill>
                <a:latin typeface="Rethink Sans"/>
                <a:ea typeface="Rethink Sans"/>
                <a:cs typeface="Rethink Sans"/>
                <a:sym typeface="Rethink Sans"/>
              </a:rPr>
              <a:t>Demonstrating the Benefits </a:t>
            </a:r>
            <a:endParaRPr sz="1800">
              <a:solidFill>
                <a:srgbClr val="191919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0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5440250" y="266300"/>
            <a:ext cx="2860800" cy="4572900"/>
          </a:xfrm>
          <a:prstGeom prst="roundRect">
            <a:avLst>
              <a:gd fmla="val 9422" name="adj"/>
            </a:avLst>
          </a:prstGeom>
          <a:solidFill>
            <a:srgbClr val="6A9955"/>
          </a:solidFill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288" name="Google Shape;288;p30"/>
          <p:cNvSpPr txBox="1"/>
          <p:nvPr>
            <p:ph type="title"/>
          </p:nvPr>
        </p:nvSpPr>
        <p:spPr>
          <a:xfrm>
            <a:off x="429167" y="576475"/>
            <a:ext cx="69300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Boldonse"/>
                <a:ea typeface="Boldonse"/>
                <a:cs typeface="Boldonse"/>
                <a:sym typeface="Boldonse"/>
              </a:rPr>
              <a:t>WSWE: </a:t>
            </a:r>
            <a:endParaRPr sz="2300">
              <a:latin typeface="Boldonse"/>
              <a:ea typeface="Boldonse"/>
              <a:cs typeface="Boldonse"/>
              <a:sym typeface="Boldons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Boldonse"/>
                <a:ea typeface="Boldonse"/>
                <a:cs typeface="Boldonse"/>
                <a:sym typeface="Boldonse"/>
              </a:rPr>
              <a:t>Where Should We Eat?</a:t>
            </a:r>
            <a:endParaRPr sz="2300">
              <a:latin typeface="Boldonse"/>
              <a:ea typeface="Boldonse"/>
              <a:cs typeface="Boldonse"/>
              <a:sym typeface="Boldonse"/>
            </a:endParaRPr>
          </a:p>
        </p:txBody>
      </p:sp>
      <p:grpSp>
        <p:nvGrpSpPr>
          <p:cNvPr id="289" name="Google Shape;289;p30"/>
          <p:cNvGrpSpPr/>
          <p:nvPr/>
        </p:nvGrpSpPr>
        <p:grpSpPr>
          <a:xfrm>
            <a:off x="5630360" y="368589"/>
            <a:ext cx="2491197" cy="4316202"/>
            <a:chOff x="2656082" y="2287427"/>
            <a:chExt cx="207582" cy="359594"/>
          </a:xfrm>
        </p:grpSpPr>
        <p:sp>
          <p:nvSpPr>
            <p:cNvPr id="290" name="Google Shape;290;p30"/>
            <p:cNvSpPr/>
            <p:nvPr/>
          </p:nvSpPr>
          <p:spPr>
            <a:xfrm>
              <a:off x="2656082" y="2287427"/>
              <a:ext cx="207582" cy="359594"/>
            </a:xfrm>
            <a:custGeom>
              <a:rect b="b" l="l" r="r" t="t"/>
              <a:pathLst>
                <a:path extrusionOk="0" h="11324" w="6537">
                  <a:moveTo>
                    <a:pt x="5704" y="334"/>
                  </a:moveTo>
                  <a:cubicBezTo>
                    <a:pt x="5965" y="334"/>
                    <a:pt x="6192" y="561"/>
                    <a:pt x="6192" y="834"/>
                  </a:cubicBezTo>
                  <a:lnTo>
                    <a:pt x="6192" y="1323"/>
                  </a:lnTo>
                  <a:lnTo>
                    <a:pt x="346" y="1323"/>
                  </a:lnTo>
                  <a:lnTo>
                    <a:pt x="346" y="834"/>
                  </a:lnTo>
                  <a:cubicBezTo>
                    <a:pt x="346" y="561"/>
                    <a:pt x="560" y="334"/>
                    <a:pt x="834" y="334"/>
                  </a:cubicBezTo>
                  <a:close/>
                  <a:moveTo>
                    <a:pt x="6192" y="1644"/>
                  </a:moveTo>
                  <a:lnTo>
                    <a:pt x="6192" y="8990"/>
                  </a:lnTo>
                  <a:lnTo>
                    <a:pt x="1501" y="8990"/>
                  </a:lnTo>
                  <a:cubicBezTo>
                    <a:pt x="1405" y="8990"/>
                    <a:pt x="1334" y="9062"/>
                    <a:pt x="1334" y="9145"/>
                  </a:cubicBezTo>
                  <a:cubicBezTo>
                    <a:pt x="1334" y="9240"/>
                    <a:pt x="1405" y="9312"/>
                    <a:pt x="1501" y="9312"/>
                  </a:cubicBezTo>
                  <a:lnTo>
                    <a:pt x="6192" y="9312"/>
                  </a:lnTo>
                  <a:lnTo>
                    <a:pt x="6192" y="10478"/>
                  </a:lnTo>
                  <a:cubicBezTo>
                    <a:pt x="6192" y="10740"/>
                    <a:pt x="5965" y="10967"/>
                    <a:pt x="5704" y="10967"/>
                  </a:cubicBezTo>
                  <a:lnTo>
                    <a:pt x="834" y="10967"/>
                  </a:lnTo>
                  <a:cubicBezTo>
                    <a:pt x="560" y="10967"/>
                    <a:pt x="346" y="10740"/>
                    <a:pt x="346" y="10478"/>
                  </a:cubicBezTo>
                  <a:lnTo>
                    <a:pt x="346" y="9312"/>
                  </a:lnTo>
                  <a:lnTo>
                    <a:pt x="834" y="9312"/>
                  </a:lnTo>
                  <a:cubicBezTo>
                    <a:pt x="917" y="9312"/>
                    <a:pt x="1001" y="9240"/>
                    <a:pt x="1001" y="9145"/>
                  </a:cubicBezTo>
                  <a:cubicBezTo>
                    <a:pt x="1001" y="9062"/>
                    <a:pt x="917" y="8990"/>
                    <a:pt x="834" y="8990"/>
                  </a:cubicBezTo>
                  <a:lnTo>
                    <a:pt x="346" y="8990"/>
                  </a:lnTo>
                  <a:lnTo>
                    <a:pt x="346" y="1644"/>
                  </a:lnTo>
                  <a:close/>
                  <a:moveTo>
                    <a:pt x="834" y="1"/>
                  </a:moveTo>
                  <a:cubicBezTo>
                    <a:pt x="370" y="1"/>
                    <a:pt x="0" y="370"/>
                    <a:pt x="0" y="834"/>
                  </a:cubicBezTo>
                  <a:lnTo>
                    <a:pt x="0" y="10490"/>
                  </a:lnTo>
                  <a:cubicBezTo>
                    <a:pt x="0" y="10955"/>
                    <a:pt x="370" y="11324"/>
                    <a:pt x="834" y="11324"/>
                  </a:cubicBezTo>
                  <a:lnTo>
                    <a:pt x="5704" y="11324"/>
                  </a:lnTo>
                  <a:cubicBezTo>
                    <a:pt x="6156" y="11324"/>
                    <a:pt x="6537" y="10955"/>
                    <a:pt x="6537" y="10490"/>
                  </a:cubicBezTo>
                  <a:lnTo>
                    <a:pt x="6537" y="834"/>
                  </a:lnTo>
                  <a:cubicBezTo>
                    <a:pt x="6513" y="370"/>
                    <a:pt x="6144" y="1"/>
                    <a:pt x="57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40825" lIns="1340825" spcFirstLastPara="1" rIns="1340825" wrap="square" tIns="134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2754395" y="2308608"/>
              <a:ext cx="31787" cy="10257"/>
            </a:xfrm>
            <a:custGeom>
              <a:rect b="b" l="l" r="r" t="t"/>
              <a:pathLst>
                <a:path extrusionOk="0" h="323" w="1001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834" y="322"/>
                  </a:lnTo>
                  <a:cubicBezTo>
                    <a:pt x="917" y="322"/>
                    <a:pt x="1000" y="251"/>
                    <a:pt x="1000" y="167"/>
                  </a:cubicBezTo>
                  <a:cubicBezTo>
                    <a:pt x="1000" y="72"/>
                    <a:pt x="917" y="1"/>
                    <a:pt x="8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40825" lIns="1340825" spcFirstLastPara="1" rIns="1340825" wrap="square" tIns="134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2743789" y="2594053"/>
              <a:ext cx="31406" cy="31056"/>
            </a:xfrm>
            <a:custGeom>
              <a:rect b="b" l="l" r="r" t="t"/>
              <a:pathLst>
                <a:path extrusionOk="0" h="978" w="989">
                  <a:moveTo>
                    <a:pt x="501" y="322"/>
                  </a:moveTo>
                  <a:cubicBezTo>
                    <a:pt x="584" y="322"/>
                    <a:pt x="656" y="406"/>
                    <a:pt x="656" y="489"/>
                  </a:cubicBezTo>
                  <a:cubicBezTo>
                    <a:pt x="656" y="584"/>
                    <a:pt x="584" y="656"/>
                    <a:pt x="501" y="656"/>
                  </a:cubicBezTo>
                  <a:cubicBezTo>
                    <a:pt x="406" y="656"/>
                    <a:pt x="334" y="584"/>
                    <a:pt x="334" y="489"/>
                  </a:cubicBezTo>
                  <a:cubicBezTo>
                    <a:pt x="334" y="406"/>
                    <a:pt x="406" y="322"/>
                    <a:pt x="501" y="322"/>
                  </a:cubicBezTo>
                  <a:close/>
                  <a:moveTo>
                    <a:pt x="501" y="1"/>
                  </a:moveTo>
                  <a:cubicBezTo>
                    <a:pt x="227" y="1"/>
                    <a:pt x="1" y="227"/>
                    <a:pt x="1" y="489"/>
                  </a:cubicBezTo>
                  <a:cubicBezTo>
                    <a:pt x="1" y="763"/>
                    <a:pt x="227" y="977"/>
                    <a:pt x="501" y="977"/>
                  </a:cubicBezTo>
                  <a:cubicBezTo>
                    <a:pt x="763" y="977"/>
                    <a:pt x="989" y="763"/>
                    <a:pt x="989" y="489"/>
                  </a:cubicBezTo>
                  <a:cubicBezTo>
                    <a:pt x="989" y="227"/>
                    <a:pt x="775" y="1"/>
                    <a:pt x="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40825" lIns="1340825" spcFirstLastPara="1" rIns="1340825" wrap="square" tIns="134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2733596" y="2308608"/>
              <a:ext cx="10225" cy="10257"/>
            </a:xfrm>
            <a:custGeom>
              <a:rect b="b" l="l" r="r" t="t"/>
              <a:pathLst>
                <a:path extrusionOk="0" h="323" w="322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340825" lIns="1340825" spcFirstLastPara="1" rIns="1340825" wrap="square" tIns="1340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4" name="Google Shape;294;p30"/>
          <p:cNvSpPr txBox="1"/>
          <p:nvPr>
            <p:ph idx="4294967295" type="subTitle"/>
          </p:nvPr>
        </p:nvSpPr>
        <p:spPr>
          <a:xfrm>
            <a:off x="507050" y="1595675"/>
            <a:ext cx="4752000" cy="26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rPr>
              <a:t>A conversational restaurant discovery agent for Philadelphia.</a:t>
            </a:r>
            <a:endParaRPr i="1" sz="1400">
              <a:solidFill>
                <a:schemeClr val="dk1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rPr>
              <a:t>Just describe what you're in the mood for; WSWE asks a follow-up question if needed, then returns personalized picks pulled from real customer reviews.</a:t>
            </a:r>
            <a:endParaRPr sz="1400">
              <a:solidFill>
                <a:schemeClr val="dk1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rPr>
              <a:t>No filters. No scrolling. Just tell it what you want.</a:t>
            </a:r>
            <a:endParaRPr b="1" sz="1400">
              <a:solidFill>
                <a:schemeClr val="dk1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pic>
        <p:nvPicPr>
          <p:cNvPr id="295" name="Google Shape;295;p30"/>
          <p:cNvPicPr preferRelativeResize="0"/>
          <p:nvPr/>
        </p:nvPicPr>
        <p:blipFill rotWithShape="1">
          <a:blip r:embed="rId5">
            <a:alphaModFix/>
          </a:blip>
          <a:srcRect b="7978" l="11039" r="7851" t="0"/>
          <a:stretch/>
        </p:blipFill>
        <p:spPr>
          <a:xfrm>
            <a:off x="5749900" y="996975"/>
            <a:ext cx="2238601" cy="2987999"/>
          </a:xfrm>
          <a:prstGeom prst="rect">
            <a:avLst/>
          </a:prstGeom>
          <a:solidFill>
            <a:srgbClr val="587E08"/>
          </a:solidFill>
          <a:ln>
            <a:noFill/>
          </a:ln>
        </p:spPr>
      </p:pic>
      <p:cxnSp>
        <p:nvCxnSpPr>
          <p:cNvPr id="296" name="Google Shape;296;p30"/>
          <p:cNvCxnSpPr/>
          <p:nvPr/>
        </p:nvCxnSpPr>
        <p:spPr>
          <a:xfrm flipH="1" rot="10800000">
            <a:off x="553800" y="2217664"/>
            <a:ext cx="41907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1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1"/>
          <p:cNvSpPr/>
          <p:nvPr/>
        </p:nvSpPr>
        <p:spPr>
          <a:xfrm>
            <a:off x="226800" y="2355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 txBox="1"/>
          <p:nvPr>
            <p:ph idx="4294967295" type="title"/>
          </p:nvPr>
        </p:nvSpPr>
        <p:spPr>
          <a:xfrm>
            <a:off x="2417625" y="487275"/>
            <a:ext cx="75060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Boldonse"/>
                <a:ea typeface="Boldonse"/>
                <a:cs typeface="Boldonse"/>
                <a:sym typeface="Boldonse"/>
              </a:rPr>
              <a:t>Future Scope</a:t>
            </a:r>
            <a:endParaRPr sz="2520"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04" name="Google Shape;304;p31"/>
          <p:cNvSpPr txBox="1"/>
          <p:nvPr>
            <p:ph idx="4294967295" type="title"/>
          </p:nvPr>
        </p:nvSpPr>
        <p:spPr>
          <a:xfrm>
            <a:off x="713475" y="1183150"/>
            <a:ext cx="20649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Expand Geography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05" name="Google Shape;305;p31"/>
          <p:cNvSpPr txBox="1"/>
          <p:nvPr>
            <p:ph idx="4294967295" type="subTitle"/>
          </p:nvPr>
        </p:nvSpPr>
        <p:spPr>
          <a:xfrm>
            <a:off x="713475" y="1598475"/>
            <a:ext cx="2064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Currently limited to 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Philadelphia restaurants. Can add restaurants across the nation for national coverage.</a:t>
            </a:r>
            <a:endParaRPr sz="1225">
              <a:latin typeface="Rethink Sans"/>
              <a:ea typeface="Rethink Sans"/>
              <a:cs typeface="Rethink Sans"/>
              <a:sym typeface="Rethink Sans"/>
            </a:endParaRPr>
          </a:p>
        </p:txBody>
      </p:sp>
      <p:sp>
        <p:nvSpPr>
          <p:cNvPr id="306" name="Google Shape;306;p31"/>
          <p:cNvSpPr txBox="1"/>
          <p:nvPr>
            <p:ph idx="4294967295" type="title"/>
          </p:nvPr>
        </p:nvSpPr>
        <p:spPr>
          <a:xfrm>
            <a:off x="6361125" y="1183150"/>
            <a:ext cx="20649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Real-Time Updates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07" name="Google Shape;307;p31"/>
          <p:cNvSpPr txBox="1"/>
          <p:nvPr>
            <p:ph idx="4294967295" type="subTitle"/>
          </p:nvPr>
        </p:nvSpPr>
        <p:spPr>
          <a:xfrm>
            <a:off x="6361125" y="1598475"/>
            <a:ext cx="22212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Utilize current user datetime to filter out closed 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restaurants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the user wants something now.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1"/>
          <p:cNvSpPr txBox="1"/>
          <p:nvPr>
            <p:ph idx="4294967295" type="subTitle"/>
          </p:nvPr>
        </p:nvSpPr>
        <p:spPr>
          <a:xfrm>
            <a:off x="3537300" y="3193050"/>
            <a:ext cx="2064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Will better contextualize and understand user reviews according to what a 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restaurant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does well and poorly.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1"/>
          <p:cNvSpPr txBox="1"/>
          <p:nvPr>
            <p:ph idx="4294967295" type="title"/>
          </p:nvPr>
        </p:nvSpPr>
        <p:spPr>
          <a:xfrm>
            <a:off x="3511950" y="2571750"/>
            <a:ext cx="21156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Sentiment &amp; Aspect Analysis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10" name="Google Shape;310;p31"/>
          <p:cNvSpPr txBox="1"/>
          <p:nvPr>
            <p:ph idx="4294967295" type="subTitle"/>
          </p:nvPr>
        </p:nvSpPr>
        <p:spPr>
          <a:xfrm>
            <a:off x="6361125" y="3193050"/>
            <a:ext cx="2221200" cy="13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Integrate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with delivery apps (e.g. UBER eats) to help users choose their restaurant within the app.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Interface with company apps to automatically route them to their websites/apps or OpenTable.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1"/>
          <p:cNvSpPr txBox="1"/>
          <p:nvPr>
            <p:ph idx="4294967295" type="title"/>
          </p:nvPr>
        </p:nvSpPr>
        <p:spPr>
          <a:xfrm>
            <a:off x="6361125" y="2493825"/>
            <a:ext cx="22212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Arial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3rd Party INTEGRATION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12" name="Google Shape;312;p31"/>
          <p:cNvSpPr txBox="1"/>
          <p:nvPr>
            <p:ph idx="4294967295" type="title"/>
          </p:nvPr>
        </p:nvSpPr>
        <p:spPr>
          <a:xfrm>
            <a:off x="713475" y="2640250"/>
            <a:ext cx="20649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Adding User Profiles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13" name="Google Shape;313;p31"/>
          <p:cNvSpPr txBox="1"/>
          <p:nvPr>
            <p:ph idx="4294967295" type="title"/>
          </p:nvPr>
        </p:nvSpPr>
        <p:spPr>
          <a:xfrm>
            <a:off x="3511950" y="1183150"/>
            <a:ext cx="21156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200">
                <a:solidFill>
                  <a:srgbClr val="587E08"/>
                </a:solidFill>
                <a:latin typeface="Boldonse"/>
                <a:ea typeface="Boldonse"/>
                <a:cs typeface="Boldonse"/>
                <a:sym typeface="Boldonse"/>
              </a:rPr>
              <a:t>Upgrade Embedding Models</a:t>
            </a:r>
            <a:endParaRPr sz="1200">
              <a:solidFill>
                <a:srgbClr val="587E08"/>
              </a:solidFill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14" name="Google Shape;314;p31"/>
          <p:cNvSpPr txBox="1"/>
          <p:nvPr>
            <p:ph idx="4294967295" type="title"/>
          </p:nvPr>
        </p:nvSpPr>
        <p:spPr>
          <a:xfrm>
            <a:off x="3511950" y="1657125"/>
            <a:ext cx="2115600" cy="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Strengthens understanding of user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reviews for better recommendations for a given query expectation.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31"/>
          <p:cNvSpPr txBox="1"/>
          <p:nvPr>
            <p:ph idx="4294967295" type="subTitle"/>
          </p:nvPr>
        </p:nvSpPr>
        <p:spPr>
          <a:xfrm>
            <a:off x="713475" y="3193050"/>
            <a:ext cx="2064900" cy="7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Store user 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restaurant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response data for better future recommendations.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Users can create their own reviews and save </a:t>
            </a:r>
            <a:r>
              <a:rPr lang="en" sz="10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restaurants within the app. </a:t>
            </a:r>
            <a:endParaRPr sz="10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/>
          <p:nvPr/>
        </p:nvSpPr>
        <p:spPr>
          <a:xfrm>
            <a:off x="228600" y="230287"/>
            <a:ext cx="8686847" cy="4672013"/>
          </a:xfrm>
          <a:custGeom>
            <a:rect b="b" l="l" r="r" t="t"/>
            <a:pathLst>
              <a:path extrusionOk="0" h="6557211" w="12192066">
                <a:moveTo>
                  <a:pt x="11760735" y="0"/>
                </a:moveTo>
                <a:lnTo>
                  <a:pt x="431265" y="0"/>
                </a:lnTo>
                <a:cubicBezTo>
                  <a:pt x="193040" y="0"/>
                  <a:pt x="0" y="195781"/>
                  <a:pt x="0" y="437281"/>
                </a:cubicBezTo>
                <a:lnTo>
                  <a:pt x="0" y="6119930"/>
                </a:lnTo>
                <a:cubicBezTo>
                  <a:pt x="0" y="6361431"/>
                  <a:pt x="193040" y="6557211"/>
                  <a:pt x="431265" y="6557211"/>
                </a:cubicBezTo>
                <a:lnTo>
                  <a:pt x="11760802" y="6557211"/>
                </a:lnTo>
                <a:cubicBezTo>
                  <a:pt x="11998960" y="6557211"/>
                  <a:pt x="12192067" y="6361431"/>
                  <a:pt x="12192067" y="6119930"/>
                </a:cubicBezTo>
                <a:lnTo>
                  <a:pt x="12192067" y="437281"/>
                </a:lnTo>
                <a:cubicBezTo>
                  <a:pt x="12192067" y="195781"/>
                  <a:pt x="11999027" y="0"/>
                  <a:pt x="11760802" y="0"/>
                </a:cubicBezTo>
                <a:close/>
                <a:moveTo>
                  <a:pt x="11774704" y="4156710"/>
                </a:moveTo>
                <a:lnTo>
                  <a:pt x="11774704" y="5805772"/>
                </a:lnTo>
                <a:cubicBezTo>
                  <a:pt x="11774704" y="5986446"/>
                  <a:pt x="11628187" y="6132965"/>
                  <a:pt x="11447513" y="6132965"/>
                </a:cubicBezTo>
                <a:lnTo>
                  <a:pt x="2865454" y="6132965"/>
                </a:lnTo>
                <a:cubicBezTo>
                  <a:pt x="2726891" y="6132965"/>
                  <a:pt x="2614596" y="6020670"/>
                  <a:pt x="2614596" y="5882106"/>
                </a:cubicBezTo>
                <a:lnTo>
                  <a:pt x="2614596" y="5882106"/>
                </a:lnTo>
                <a:cubicBezTo>
                  <a:pt x="2614596" y="5743542"/>
                  <a:pt x="2502301" y="5631247"/>
                  <a:pt x="2363738" y="5631247"/>
                </a:cubicBezTo>
                <a:lnTo>
                  <a:pt x="771091" y="5631247"/>
                </a:lnTo>
                <a:cubicBezTo>
                  <a:pt x="559736" y="5631247"/>
                  <a:pt x="388486" y="5459931"/>
                  <a:pt x="388486" y="5248643"/>
                </a:cubicBezTo>
                <a:lnTo>
                  <a:pt x="388486" y="778844"/>
                </a:lnTo>
                <a:cubicBezTo>
                  <a:pt x="388486" y="575511"/>
                  <a:pt x="553319" y="410745"/>
                  <a:pt x="756586" y="410745"/>
                </a:cubicBezTo>
                <a:lnTo>
                  <a:pt x="6685681" y="410745"/>
                </a:lnTo>
                <a:cubicBezTo>
                  <a:pt x="6872772" y="410745"/>
                  <a:pt x="7024437" y="562410"/>
                  <a:pt x="7024437" y="749501"/>
                </a:cubicBezTo>
                <a:lnTo>
                  <a:pt x="7024437" y="1507356"/>
                </a:lnTo>
                <a:cubicBezTo>
                  <a:pt x="7024437" y="1693980"/>
                  <a:pt x="7175835" y="1845243"/>
                  <a:pt x="7362457" y="1845110"/>
                </a:cubicBezTo>
                <a:lnTo>
                  <a:pt x="11455734" y="1841834"/>
                </a:lnTo>
                <a:cubicBezTo>
                  <a:pt x="11631863" y="1841701"/>
                  <a:pt x="11774771" y="1984476"/>
                  <a:pt x="11774771" y="2160604"/>
                </a:cubicBezTo>
                <a:lnTo>
                  <a:pt x="11774771" y="41567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2"/>
          <p:cNvSpPr txBox="1"/>
          <p:nvPr>
            <p:ph type="title"/>
          </p:nvPr>
        </p:nvSpPr>
        <p:spPr>
          <a:xfrm>
            <a:off x="5437950" y="521225"/>
            <a:ext cx="3465600" cy="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20">
                <a:latin typeface="Boldonse"/>
                <a:ea typeface="Boldonse"/>
                <a:cs typeface="Boldonse"/>
                <a:sym typeface="Boldonse"/>
              </a:rPr>
              <a:t>Questions?</a:t>
            </a:r>
            <a:endParaRPr sz="1820">
              <a:latin typeface="Boldonse"/>
              <a:ea typeface="Boldonse"/>
              <a:cs typeface="Boldonse"/>
              <a:sym typeface="Boldons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3"/>
          <p:cNvPicPr preferRelativeResize="0"/>
          <p:nvPr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0" y="-2000250"/>
            <a:ext cx="9144000" cy="71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/>
          <p:nvPr/>
        </p:nvSpPr>
        <p:spPr>
          <a:xfrm>
            <a:off x="228600" y="228600"/>
            <a:ext cx="8690400" cy="4672500"/>
          </a:xfrm>
          <a:prstGeom prst="roundRect">
            <a:avLst>
              <a:gd fmla="val 72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3"/>
          <p:cNvSpPr txBox="1"/>
          <p:nvPr>
            <p:ph type="title"/>
          </p:nvPr>
        </p:nvSpPr>
        <p:spPr>
          <a:xfrm>
            <a:off x="429167" y="576475"/>
            <a:ext cx="6930000" cy="7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Boldonse"/>
                <a:ea typeface="Boldonse"/>
                <a:cs typeface="Boldonse"/>
                <a:sym typeface="Boldonse"/>
              </a:rPr>
              <a:t>Appendix-DEMO VIDEO</a:t>
            </a:r>
            <a:endParaRPr sz="2300">
              <a:latin typeface="Boldonse"/>
              <a:ea typeface="Boldonse"/>
              <a:cs typeface="Boldonse"/>
              <a:sym typeface="Boldonse"/>
            </a:endParaRPr>
          </a:p>
        </p:txBody>
      </p:sp>
      <p:sp>
        <p:nvSpPr>
          <p:cNvPr id="329" name="Google Shape;329;p33"/>
          <p:cNvSpPr txBox="1"/>
          <p:nvPr>
            <p:ph idx="4294967295" type="subTitle"/>
          </p:nvPr>
        </p:nvSpPr>
        <p:spPr>
          <a:xfrm>
            <a:off x="507050" y="1595675"/>
            <a:ext cx="4752000" cy="26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rPr>
              <a:t>A conversational restaurant discovery agent for Philadelphia.</a:t>
            </a:r>
            <a:endParaRPr i="1" sz="1400">
              <a:solidFill>
                <a:schemeClr val="dk1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rPr>
              <a:t>Just describe what you're in the mood for; WSWE asks a follow-up question if needed, then returns personalized picks pulled from real customer reviews.</a:t>
            </a:r>
            <a:endParaRPr sz="1400">
              <a:solidFill>
                <a:schemeClr val="dk1"/>
              </a:solidFill>
              <a:latin typeface="Rethink Sans"/>
              <a:ea typeface="Rethink Sans"/>
              <a:cs typeface="Rethink Sans"/>
              <a:sym typeface="Rethink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Rethink Sans"/>
                <a:ea typeface="Rethink Sans"/>
                <a:cs typeface="Rethink Sans"/>
                <a:sym typeface="Rethink Sans"/>
              </a:rPr>
              <a:t>No filters. No scrolling. Just tell it what you want.</a:t>
            </a:r>
            <a:endParaRPr b="1" sz="1400">
              <a:solidFill>
                <a:schemeClr val="dk1"/>
              </a:solidFill>
              <a:latin typeface="Rethink Sans"/>
              <a:ea typeface="Rethink Sans"/>
              <a:cs typeface="Rethink Sans"/>
              <a:sym typeface="Rethink Sans"/>
            </a:endParaRPr>
          </a:p>
        </p:txBody>
      </p:sp>
      <p:cxnSp>
        <p:nvCxnSpPr>
          <p:cNvPr id="330" name="Google Shape;330;p33"/>
          <p:cNvCxnSpPr/>
          <p:nvPr/>
        </p:nvCxnSpPr>
        <p:spPr>
          <a:xfrm flipH="1" rot="10800000">
            <a:off x="553800" y="2217664"/>
            <a:ext cx="41907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1" name="Google Shape;331;p33" title="Untitled design (6)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8650" y="846350"/>
            <a:ext cx="3291750" cy="32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